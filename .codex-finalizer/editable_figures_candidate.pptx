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328823bbc34d4d" /><Relationship Type="http://schemas.openxmlformats.org/officeDocument/2006/relationships/extended-properties" Target="/docProps/app.xml" Id="Rc2f161e197f54a7e" /><Relationship Type="http://schemas.openxmlformats.org/officeDocument/2006/relationships/officeDocument" Target="/ppt/presentation.xml" Id="Rd0d68c95fe4e49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4c8a5e418a4393"/>
  </p:sldMasterIdLst>
  <p:notesMasterIdLst>
    <p:notesMasterId xmlns:r="http://schemas.openxmlformats.org/officeDocument/2006/relationships" r:id="R548cfa04db20435d"/>
  </p:notesMasterIdLst>
  <p:sldIdLst>
    <p:sldId xmlns:r="http://schemas.openxmlformats.org/officeDocument/2006/relationships" id="256" r:id="R1c77e47b8df04886"/>
    <p:sldId xmlns:r="http://schemas.openxmlformats.org/officeDocument/2006/relationships" id="257" r:id="Rb14fb93863114bb0"/>
    <p:sldId xmlns:r="http://schemas.openxmlformats.org/officeDocument/2006/relationships" id="258" r:id="Rddb7a3839385420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198b8c19844561" /><Relationship Type="http://schemas.openxmlformats.org/officeDocument/2006/relationships/slideMaster" Target="/ppt/slideMasters/slideMaster1.xml" Id="R364c8a5e418a4393" /><Relationship Type="http://schemas.openxmlformats.org/officeDocument/2006/relationships/notesMaster" Target="/ppt/notesMasters/notesMaster1.xml" Id="R548cfa04db20435d" /><Relationship Type="http://schemas.openxmlformats.org/officeDocument/2006/relationships/presProps" Target="/ppt/presProps.xml" Id="R6586c9a82ccf4629" /><Relationship Type="http://schemas.openxmlformats.org/officeDocument/2006/relationships/tableStyles" Target="/ppt/tableStyles.xml" Id="R3ff25dc4c49842ed" /><Relationship Type="http://schemas.openxmlformats.org/officeDocument/2006/relationships/slide" Target="/ppt/slides/slide1.xml" Id="R1c77e47b8df04886" /><Relationship Type="http://schemas.openxmlformats.org/officeDocument/2006/relationships/slide" Target="/ppt/slides/slide2.xml" Id="Rb14fb93863114bb0" /><Relationship Type="http://schemas.openxmlformats.org/officeDocument/2006/relationships/slide" Target="/ppt/slides/slide3.xml" Id="Rddb7a383938542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bd0c41812445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9cca68e0e74284" /><Relationship Type="http://schemas.openxmlformats.org/officeDocument/2006/relationships/notesMaster" Target="/ppt/notesMasters/notesMaster1.xml" Id="R33dc6f5b1ff747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942c91d7a04305" /><Relationship Type="http://schemas.openxmlformats.org/officeDocument/2006/relationships/notesMaster" Target="/ppt/notesMasters/notesMaster1.xml" Id="R0042677ce6bb4c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d38c01c97e40cb" /><Relationship Type="http://schemas.openxmlformats.org/officeDocument/2006/relationships/notesMaster" Target="/ppt/notesMasters/notesMaster1.xml" Id="R7bda6d907e9644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screenshot;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screenshot;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screenshot; all diagram elements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737dd18dc47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6b107afc794e36" /><Relationship Type="http://schemas.openxmlformats.org/officeDocument/2006/relationships/slideLayout" Target="/ppt/slideLayouts/slideLayout1.xml" Id="R9440e2e7929a4d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40e2e7929a4d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e7a6d3c1b4e66" /><Relationship Type="http://schemas.openxmlformats.org/officeDocument/2006/relationships/notesSlide" Target="/ppt/notesSlides/notesSlide1.xml" Id="Rd59805bd7c554d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30fc0155f420c" /><Relationship Type="http://schemas.openxmlformats.org/officeDocument/2006/relationships/notesSlide" Target="/ppt/notesSlides/notesSlide2.xml" Id="R93c2e0f137bf43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9fe6bd7074707" /><Relationship Type="http://schemas.openxmlformats.org/officeDocument/2006/relationships/notesSlide" Target="/ppt/notesSlides/notesSlide3.xml" Id="R83019a61396c4d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A69979-67E3-4955-B2BF-C18D7E5B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A scale-inference error in the global methane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C62E5-88D6-42DD-A5E9-47387662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The chamber-measured soil sink is treated as the whole upland budget, but they are different quantities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563EB-E7B7-4F77-9E66-B8A15F21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6381750" cy="5953125"/>
          </a:xfrm>
          <a:prstGeom xmlns:a="http://schemas.openxmlformats.org/drawingml/2006/main" prst="roundRect">
            <a:avLst>
              <a:gd name="adj" fmla="val 288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FBB3D-EE02-4804-84D1-444D88FC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81125"/>
            <a:ext cx="6143625" cy="5953125"/>
          </a:xfrm>
          <a:prstGeom xmlns:a="http://schemas.openxmlformats.org/drawingml/2006/main" prst="roundRect">
            <a:avLst>
              <a:gd name="adj" fmla="val 2880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347FE-8AE2-47D8-8E9B-F4733E75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716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CHAMBER — measurement 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805DD-189A-4580-9AD4-9F9012AA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716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ECOSYSTEM — inference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E03EF-5D45-4330-B980-99BBF4A1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62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sees only the soil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7CD76-7A30-42D9-93FF-7A526578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23825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43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26C23-47E0-4B09-A6CE-1EB98C9C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chamber</a:t>
            </a:r>
          </a:p>
          <a:p xmlns:a="http://schemas.openxmlformats.org/drawingml/2006/main">
            <a:pPr algn="ctr">
              <a:def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collar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A1F4C-9EE0-41B0-95FF-DAE85316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0"/>
            <a:ext cx="5848350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7D8BC"/>
          </a:solidFill>
          <a:ln xmlns:a="http://schemas.openxmlformats.org/drawingml/2006/main" w="19050">
            <a:solidFill>
              <a:srgbClr val="C9B18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47E6D-7554-4F12-AE90-1CC76D0C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339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A7A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7A60"/>
                </a:solidFill>
                <a:latin typeface="Helvetica Neue"/>
                <a:ea typeface="Helvetica Neue"/>
                <a:cs typeface="Helvetica Neue"/>
              </a:rPr>
              <a:t>aerated soil · methanotrophy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63F88-A98C-42DA-9D80-D028AF7E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91125"/>
            <a:ext cx="361950" cy="9525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D65B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E96D5-5885-4A4E-B86A-777EF84D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435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CH₄ uptake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64B3B-E8C7-4C49-9365-0D844719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191250"/>
            <a:ext cx="53340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98014-D726-4D2A-A1A9-0D3A359F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3150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Assumed soil sink: −11 to −49 Tg CH₄ yr⁻¹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FA420-16D7-438F-BAFA-A424458E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52825"/>
            <a:ext cx="71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9D290-68B8-4A47-844B-E797B67A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0"/>
            <a:ext cx="5810250" cy="233362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7D8BC"/>
          </a:solidFill>
          <a:ln xmlns:a="http://schemas.openxmlformats.org/drawingml/2006/main" w="19050">
            <a:solidFill>
              <a:srgbClr val="C9B1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5B1F0-9F92-4C67-8925-9B5093B3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619125" cy="2809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39FB6-B06E-4299-94B3-7BDD2AEF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050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597CD-4EF6-4F66-B599-780D0D29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768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49A21-76B5-4608-A9B6-04A95EA2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66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stems · canopy · microsites · transport · lateral 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14CF0-B5AB-40C9-8F83-5BE73179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38550"/>
            <a:ext cx="114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A4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58C5EB-CF72-485A-8B87-43CCA601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952750"/>
            <a:ext cx="7429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9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0E33E7-81BB-45E7-865C-6C71E3E5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47900"/>
            <a:ext cx="304800" cy="8191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8CC9A-9AFE-4EEF-AAB5-86814BC9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638550"/>
            <a:ext cx="114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A4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33465-CB0F-4EE0-A85A-E4E53C91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952750"/>
            <a:ext cx="7429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9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AD28B-ABA1-4A19-9AE1-94C27C22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47900"/>
            <a:ext cx="304800" cy="8191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DB4D7-0688-42FE-8DF6-651F10B6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429125"/>
            <a:ext cx="323850" cy="8382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D65B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75DA2C-7C38-4F6C-B424-FE28B05E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5514975"/>
            <a:ext cx="57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soil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D87338-B495-45B4-BAE1-0044AE16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5095875"/>
            <a:ext cx="8572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B4C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B3093A-4246-4DD5-AF9C-78CD9F03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191000"/>
            <a:ext cx="304800" cy="7810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CD46C5-326B-4E6A-B333-97AD9409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5514975"/>
            <a:ext cx="876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wet spot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B86E7F-A134-4F3F-9DF6-2BCE159A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2514600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797E8A-FC39-4D17-AB75-14E2440E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22669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tower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9FCF9E-61C1-4B73-9540-6C3A5A8D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724150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1A0592-F6E7-4314-9F60-E290DB44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171825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313928-CDA1-4B19-A517-788D38BD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619500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F7B15A-DFA6-4DF8-8527-EA5F2E99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067175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C642F4-CE06-46AE-8F3F-E1989A32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514850"/>
            <a:ext cx="2476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CBB5FD-4D9D-4BA3-AE80-15E7CB6B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52863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3F5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68F072-76AB-4DB7-B2DC-C4E3E7C6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1507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Ecosystem-scale: +22 to +75 Tg CH₄ yr⁻¹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DB0498-7E58-43A8-8552-C4F9CE10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58100"/>
            <a:ext cx="140970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FE2B71-F41A-4CA5-841D-DA3EFA2B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781925"/>
            <a:ext cx="1343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83% of NEON upland sites (2021–2024) are net CH₄ sources — the soil sink is not the upland budget</a:t>
            </a:r>
          </a:p>
        </p:txBody>
      </p:sp>
    </p:spTree>
    <p:extLst>
      <p:ext uri="{BB962C8B-B14F-4D97-AF65-F5344CB8AC3E}">
        <p14:creationId xmlns:p14="http://schemas.microsoft.com/office/powerpoint/2010/main" val="940711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5A32DA-BA8F-47C2-B460-908A71B0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3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The Upland Methane Constraint: from existing observatory data to a budget-ready AI-ready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09D52-1C87-40C0-A827-9D36E586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No new field stations — value created by pipelining, harmonizing, and physically constraining data that already exist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78F83-B1BA-4C1F-9E57-1C6AC320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2571750" cy="45720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A3970-7287-49F7-A7F4-118DBBDE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EXISTING COMMUNITY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A5E03-A1DB-4E09-8006-7B2511C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0507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2B115-6BB5-4B5A-ADA0-972B5680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03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NEON gradient profiles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468C7-F71C-43FE-8D3F-4F1D09B7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0512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47 towers · vertical CH₄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8E268-B240-45BC-A894-787D6CC4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3852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CD078-325B-403B-856F-EAE1D45A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337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AmeriFlux / FLUXNET-CH₄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C4EF1-6315-4DF8-AC2B-28A72738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3857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EC CH₄ fluxes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CD156-9A9C-4F6E-AD21-D9773265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7197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4650E-B7F5-4E03-97F8-AEC0CB17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672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7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ICOS + validation towers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6AE79-9509-4951-8800-E924EBA0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7202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EC + gradient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14FEA-31E8-43D5-B2DD-41581899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05425"/>
            <a:ext cx="21717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9A20D-A04F-482D-AF02-96365415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006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Drivers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21C09-4299-4BE4-BBBF-E2718187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0547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ERA5 · MODIS · WAD2M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ED98E-8598-447E-85BC-BA91973F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open-licensed · not AI-ready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CC2A8-A3DD-4776-8E7B-58BB45DB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3A0B5-061B-4A41-995B-8FBEB889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98DC82-B0A1-47B6-BFA6-E916AD53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D8327-7501-4D8B-8AD6-567F25D0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607CD-5244-428B-BA3C-32A15E7B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Automated GF pipeline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832F65-BB42-45F1-9C97-A4D05459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Reproducible, self-updating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NEON gradient fluxes with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uncertainty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B9E25-97CA-4E6C-8A9D-B557BF92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8D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B1953-6EC0-46C3-AC7F-2CA62204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71ADE-1738-420F-B67C-511CFC90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NEON-GF-CH₄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ED8E0-C3B4-438E-BBCE-875DB761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516BA-4593-4774-AB30-3C5EDEB6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788B9-BF07-48AE-834F-7C96C995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D8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F91F11-17B9-40A1-AF8A-2BB33727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0C53F9-E067-44BB-8560-10DDFE2E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Harmonized corpus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6BEB15-1937-4661-A38C-8783F3AF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Multi-network,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cross-method, feature-rich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training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3CF55D-9E3B-48BB-9EA6-634FD9FE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8D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9C4797-FB81-407B-B10F-CFA21C04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0E00CD-58B7-439F-B4EE-42F67084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UMC-Train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B3FBA9-9A79-488A-92D5-12C09F8F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C1A73E-A871-4AE5-B703-E9CFF1F2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A4BB5A-59BC-4CB3-AF3D-B0FBF79F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F5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5C244C-4160-4429-94B6-0F1FA04C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F07880-B7B6-415D-930C-940F458B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Knowledge-guided ML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83FB68-60B7-4CDA-8D12-14F576D5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Physics-constrained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upscaling that transfers to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unseen sites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831AF7-06B1-405D-B254-81B37401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3F5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DF0E68-EEF8-4D8B-89B8-A21939A6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AF98D3-52D5-45B4-A40A-DDE020A6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UMC-Grid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ADDAF8-F17D-42B8-B656-C9A6B859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124075"/>
            <a:ext cx="2428875" cy="3219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B09182-C0A3-40AD-9A46-68621031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124075"/>
            <a:ext cx="242887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0F77D0-DA8E-4989-B1F6-09E7BD67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352675"/>
            <a:ext cx="2428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505966-F101-49E3-AD84-71DD7B34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1907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2E24EB-DDB6-435E-B314-4BE0D3F7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Inversion &amp; reconciliation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0D2458-9BD0-48BD-AE1F-88F13945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3076575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Top-down, bottom-up &amp;</a:t>
            </a:r>
          </a:p>
          <a:p xmlns:a="http://schemas.openxmlformats.org/drawingml/2006/main">
            <a:pPr algn="ctr">
              <a:def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process-model constraint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CB1D3C-B2B8-491A-9925-988A82E0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572000"/>
            <a:ext cx="197167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C33B80-5F55-48E9-B83E-E2AC1222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638675"/>
            <a:ext cx="1743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FB8F1A-21AF-4A2A-BD5A-C7F2BA1D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8006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UMC-Constraint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47AE42-C4C5-4A73-9B87-CCD25F50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3B826A-0D8A-4587-BE33-11EE86C1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530683-B5CC-4446-811F-5775D73D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61A992-F1FB-47A5-9191-717BD59E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195368-BAC9-43BE-BAEC-7EFF37F3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552825"/>
            <a:ext cx="3619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6D761E-2FF1-42D3-891F-96FD4168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124075"/>
            <a:ext cx="1143000" cy="32194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A81D77-CB95-407E-8602-A62CEE18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619375"/>
            <a:ext cx="95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2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GLOBAL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CARBON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PROJECT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A2AB94-44F3-481E-869F-EB7FB240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8766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7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Global Methane</a:t>
            </a:r>
          </a:p>
          <a:p xmlns:a="http://schemas.openxmlformats.org/drawingml/2006/main">
            <a:pPr algn="ctr">
              <a:def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Budget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1EE7C7-C0A6-4504-BBBB-0B356BED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6386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6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ABB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BD0"/>
                </a:solidFill>
                <a:latin typeface="Helvetica Neue"/>
                <a:ea typeface="Helvetica Neue"/>
                <a:cs typeface="Helvetica Neue"/>
              </a:rPr>
              <a:t>IPCC · inventories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04DFF9-0363-46EF-A914-59B335A9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762625"/>
            <a:ext cx="1042987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689CD8-812D-4E8F-B817-0E5B1E7D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905500"/>
            <a:ext cx="9972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Governed, versioned, FAIR open release · DOIs &amp; provenance · continuously updated as networks grow</a:t>
            </a:r>
          </a:p>
        </p:txBody>
      </p:sp>
    </p:spTree>
    <p:extLst>
      <p:ext uri="{BB962C8B-B14F-4D97-AF65-F5344CB8AC3E}">
        <p14:creationId xmlns:p14="http://schemas.microsoft.com/office/powerpoint/2010/main" val="1040464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8037DA1-F2C0-49DA-B1F6-7B3D6A5D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Knowledge-guided machine learning restores site-to-site transferability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63298-A49A-45AD-9092-03598DAC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1295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Embedding methane process physics into learning fixes the leave-one-site-out collapse of standard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4F854-58EE-4077-98AE-736F4AC7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2190750" cy="39052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EFF8"/>
          </a:solidFill>
          <a:ln xmlns:a="http://schemas.openxmlformats.org/drawingml/2006/main" w="19050">
            <a:solidFill>
              <a:srgbClr val="2D65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CEEF0-4235-40EC-B993-2A1E9141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167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5B3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35675-2D75-43E8-B755-955B2F65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733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0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Harmonized</a:t>
            </a:r>
          </a:p>
          <a:p xmlns:a="http://schemas.openxmlformats.org/drawingml/2006/main">
            <a:pPr algn="ctr">
              <a:def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AI-ready features</a:t>
            </a:r>
          </a:p>
          <a:p xmlns:a="http://schemas.openxmlformats.org/drawingml/2006/main">
            <a:pPr algn="ctr">
              <a:def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(UMC-Train)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4C0C2-89CC-4FD4-AC8A-5DD0D26F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climate · soil moisture</a:t>
            </a:r>
          </a:p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aridity · land cover</a:t>
            </a:r>
          </a:p>
          <a:p xmlns:a="http://schemas.openxmlformats.org/drawingml/2006/main">
            <a:pPr algn="ctr">
              <a:def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99CB5"/>
                </a:solidFill>
                <a:latin typeface="Helvetica Neue"/>
                <a:ea typeface="Helvetica Neue"/>
                <a:cs typeface="Helvetica Neue"/>
              </a:rPr>
              <a:t>site priors · footprint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DE611-D016-4D97-BE4A-D4EDC62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4953000" cy="16192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7EE"/>
          </a:solidFill>
          <a:ln xmlns:a="http://schemas.openxmlformats.org/drawingml/2006/main" w="19050">
            <a:solidFill>
              <a:srgbClr val="DF8A1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F07F4-1ACE-4769-AE8A-C7515F32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811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6D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86D0C"/>
                </a:solidFill>
                <a:latin typeface="Helvetica Neue"/>
                <a:ea typeface="Helvetica Neue"/>
                <a:cs typeface="Helvetica Neue"/>
              </a:rPr>
              <a:t>PROCESS CONSTRAINTS (knowledge)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D99C9-1D7D-4FCB-89F0-6A246F98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0502C-350F-4B6A-90A0-85C4F152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574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Diffusion-limited uptake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5A24E-B514-4B9E-BEC8-49C9403C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7887C-78AD-4FA6-A071-40A2EC9B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Moisture &amp; aridity thresholds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FD8FA-C170-4261-B148-9B7E8F6A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2223F-E265-4E62-A6A0-517F350F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574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Methanotroph / methanogen Q₁₀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E3073-8DE3-45F6-BF9A-A214A883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CD808-7561-4066-9893-F9F7AFE8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860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2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Sign, monotonicity &amp; mass balance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6A64D-2ABD-42CD-8DA8-1039D0BD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33800"/>
            <a:ext cx="2238375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158D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862F1-C31A-4B81-A20F-F2DA527F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19550"/>
            <a:ext cx="1800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Reduced process</a:t>
            </a:r>
          </a:p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emulator</a:t>
            </a:r>
          </a:p>
          <a:p xmlns:a="http://schemas.openxmlformats.org/drawingml/2006/main">
            <a:pPr algn="ctr">
              <a:def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D83"/>
                </a:solidFill>
                <a:latin typeface="Helvetica Neue"/>
                <a:ea typeface="Helvetica Neue"/>
                <a:cs typeface="Helvetica Neue"/>
              </a:rPr>
              <a:t>(MeMo-informed)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34592-877F-47E5-A43C-EED56725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2238375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C83F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CB273-5345-4FB9-8401-F06C2628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19550"/>
            <a:ext cx="1800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2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ML residual</a:t>
            </a:r>
          </a:p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network</a:t>
            </a:r>
          </a:p>
          <a:p xmlns:a="http://schemas.openxmlformats.org/drawingml/2006/main">
            <a:pPr algn="ctr">
              <a:def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3F5A"/>
                </a:solidFill>
                <a:latin typeface="Helvetica Neue"/>
                <a:ea typeface="Helvetica Neue"/>
                <a:cs typeface="Helvetica Neue"/>
              </a:rPr>
              <a:t>learns the correction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49570-E1E6-4B19-ABB2-A630FDF0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67125"/>
            <a:ext cx="409575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BE47E-D222-4769-A3C4-17CBD027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14800"/>
            <a:ext cx="3619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40FD2-215A-437F-83B9-EFD6AB6F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1002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99"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9DA8D-3C2B-4957-84AD-5F9BB670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191000" y="3209925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7521B-5C3D-4961-BF70-2A0718D5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105650" y="3209925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DF8A1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DF2BAB-C0D2-45BC-8226-CF820701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19575" y="5048250"/>
            <a:ext cx="323850" cy="552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02F8D-E8C5-40F2-9C5F-EF99B5F7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086600" y="5048250"/>
            <a:ext cx="323850" cy="5524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709665-3B18-4835-AC69-C65A21BB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95950"/>
            <a:ext cx="5095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77BE1B-F727-49D9-8ABB-762B7B22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48350"/>
            <a:ext cx="471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0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Constrained prediction = physics baseline + bounded ML residual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233A2-6FF0-44ED-9312-394B6D0A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95975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9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4293D0-29F0-4B89-8059-71A84CEA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6400800" cy="46482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73968"/>
          </a:solidFill>
          <a:ln xmlns:a="http://schemas.openxmlformats.org/drawingml/2006/main" w="19050">
            <a:solidFill>
              <a:srgbClr val="1739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0708F1-92EF-4491-B768-9F4D078F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95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FC0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FC0D7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EC0528-E461-42AF-AE58-114D9F47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4795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Global gridded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upland CH₄ flux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(UMC-Grid)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391EA1-A747-4833-BDF8-559123B1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481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+ per-cell uncertainty</a:t>
            </a:r>
          </a:p>
          <a:p xmlns:a="http://schemas.openxmlformats.org/drawingml/2006/main">
            <a:pPr algn="l">
              <a:def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+ source probability</a:t>
            </a:r>
          </a:p>
          <a:p xmlns:a="http://schemas.openxmlformats.org/drawingml/2006/main">
            <a:pPr algn="l">
              <a:def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DFEC"/>
                </a:solidFill>
                <a:latin typeface="Helvetica Neue"/>
                <a:ea typeface="Helvetica Neue"/>
                <a:cs typeface="Helvetica Neue"/>
              </a:rPr>
              <a:t>+ applicability mask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EA55A4-C2F0-471E-B65B-6AAADC60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762750"/>
            <a:ext cx="1452562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EFF4FA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C176C1-AD59-43B0-B95C-DAE366E2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915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Why it matters: recovering skill at unseen sites (leave-one-site-out)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9E5DF8-5901-499B-8D05-058F87EE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53300"/>
            <a:ext cx="2667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D047B7-3A9E-4362-88FA-3838CEE6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8750" y="7429500"/>
            <a:ext cx="242887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A3C1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DABC1F-8EBF-4A2E-AEF5-C396FE7C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77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A9CD22-C028-429C-8827-2E8BBC4F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581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2AE887-0501-4FCA-80A8-CAA30791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759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771CB1-2722-4E77-AA46-E8A7E168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75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0D6DB3-D795-40E9-8FCF-F4C12DD3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70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8D231E-1300-4CF2-93E2-4B1D2742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71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69AF71-D12B-4FFA-9599-EFDC7C5B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648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180FCA-596D-4ED7-8077-5E1C7D43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69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26CE0A-444E-474B-B191-BC395F5E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771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00AF3D-60E0-4E10-96BE-889F2385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759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14D262-57B8-4097-B392-F1D47348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766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49C440-7C28-42FD-B06E-96AB3647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766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5A70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B9BF48-648D-4397-A291-14B869D1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2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Standard RF: CCC &lt; 0.1 (flat — predicts the mean)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F46E76-2187-4203-93FD-48039344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4199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396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E74295-39B8-4591-A161-527EF271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53300"/>
            <a:ext cx="2667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CE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DBFAE2-0BCD-4771-B65B-2BAA26A8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096750" y="7429500"/>
            <a:ext cx="242887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A3C1"/>
            </a:solidFill>
            <a:prstDash val="dash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2B2E02-5BA4-4EFC-86CB-77D2D40B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781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8879CB-0D23-4A5F-9619-E65E0974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877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7FEA1B-FD13-47AC-A59A-1E430255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781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6EEFED-9E62-4309-8ACB-CFDE5A97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767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71C231-390A-42BB-BF43-6AB21E5F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768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721BC2-FE25-42D1-B2F0-932BF4FC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762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1F66ED2-A290-4317-BE24-2540B1BC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761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B18636-FD54-497A-B0DA-ECA42016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7572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F6504F-8852-4147-97CA-9F3116E2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43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43528D-B050-4032-9953-225989BB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7400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EE2163-B774-4A19-A868-366DAB25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7486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017C41-12DE-4E84-83CA-6ECC78EF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742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F41C99-A266-4FCB-93E4-800B80B9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23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9B9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2C46E0-A20D-453C-A375-05A2F54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80200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43A42"/>
                </a:solidFill>
                <a:latin typeface="Helvetica Neue"/>
                <a:ea typeface="Helvetica Neue"/>
                <a:cs typeface="Helvetica Neue"/>
              </a:rPr>
              <a:t>KGML: constraints restore the 1:1 relationship</a:t>
            </a:r>
          </a:p>
        </p:txBody>
      </p:sp>
    </p:spTree>
    <p:extLst>
      <p:ext uri="{BB962C8B-B14F-4D97-AF65-F5344CB8AC3E}">
        <p14:creationId xmlns:p14="http://schemas.microsoft.com/office/powerpoint/2010/main" val="1757852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2026-09-04T14:31:56.6840000Z</dcterms:created>
  <dcterms:modified xsi:type="dcterms:W3CDTF">2026-09-04T14:31:56.6840000Z</dcterms:modified>
</coreProperties>
</file>