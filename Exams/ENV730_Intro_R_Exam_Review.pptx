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51"/>
    <p:restoredTop sz="94610"/>
  </p:normalViewPr>
  <p:slideViewPr>
    <p:cSldViewPr snapToGrid="0" snapToObjects="1">
      <p:cViewPr varScale="1">
        <p:scale>
          <a:sx n="185" d="100"/>
          <a:sy n="185" d="100"/>
        </p:scale>
        <p:origin x="17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32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1F51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4663440"/>
            <a:ext cx="3108960" cy="3108960"/>
          </a:xfrm>
          <a:prstGeom prst="ellipse">
            <a:avLst/>
          </a:prstGeom>
          <a:solidFill>
            <a:srgbClr val="1B4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REVIEW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R — Exam Review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prompt, followed by its solution  ·  Parts A–C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9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Basics   ·   Vector Data   ·   Raster Data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182880"/>
            <a:ext cx="457200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0" b="1" dirty="0">
                <a:solidFill>
                  <a:srgbClr val="1B4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Basics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886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record — tidyverse, dates, summaries, and ggplot2.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PROMPT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1371600"/>
          </a:xfrm>
          <a:prstGeom prst="ellipse">
            <a:avLst/>
          </a:prstGeom>
          <a:solidFill>
            <a:srgbClr val="1F51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97280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daily Daymet climate data for Yale-Myers Forest for 1990–2018 and convert the daily records into a data frame called yale_myers.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· 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91672" cy="4572000"/>
          </a:xfrm>
          <a:prstGeom prst="roundRect">
            <a:avLst>
              <a:gd name="adj" fmla="val 1800"/>
            </a:avLst>
          </a:prstGeom>
          <a:solidFill>
            <a:srgbClr val="14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ym_raw &lt;- download_daymet(lat = 41.952909, lon = -72.123859,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start = 1990, end = 2018)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yale_myers &lt;- as.data.frame(ym_raw$data)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~10,585 daily rows across 1990–2018, pulled from the $data element.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PROMPT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1371600"/>
          </a:xfrm>
          <a:prstGeom prst="ellipse">
            <a:avLst/>
          </a:prstGeom>
          <a:solidFill>
            <a:srgbClr val="1F51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97280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date, month, season (case_when), tmean = 0.606·tmax + 0.394·tmin, and a logical freeze_day (tmin ≤ 0). Then rename tmax / tmin / prcp and select a tidy subset.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· 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91672" cy="4572000"/>
          </a:xfrm>
          <a:prstGeom prst="roundRect">
            <a:avLst>
              <a:gd name="adj" fmla="val 1800"/>
            </a:avLst>
          </a:prstGeom>
          <a:solidFill>
            <a:srgbClr val="14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yale_myers &lt;- yale_myers %&gt;%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   = as.Date(paste(year, yday, sep = "-"), format = "%Y-%j"),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month  = format(date, "%m"),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season = case_when(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month %in% c("12","01","02") ~ "Winter",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month %in% c("03","04","05") ~ "Spring",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month %in% c("06","07","08") ~ "Summer",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month %in% c("09","10","11") ~ "Fall"),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tmean      = 0.606 * tmax..deg.c. + 0.394 * tmin..deg.c.,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freeze_day = tmin..deg.c. &lt;= 0) %&gt;%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rename(tmax = tmax..deg.c., tmin = tmin..deg.c., prcp = prcp..mm.day.) %&gt;%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select(date, year, month, season, tmax, tmin, tmean, prcp, freeze_day)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is a Date, tmean is in °C, and freeze_day is logical.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PROMPT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1371600"/>
          </a:xfrm>
          <a:prstGeom prst="ellipse">
            <a:avLst/>
          </a:prstGeom>
          <a:solidFill>
            <a:srgbClr val="1F51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97280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reframe(), build an annual summary with one row per year: mean annual temperature, total precipitation, and the number of freeze days.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· 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91672" cy="4572000"/>
          </a:xfrm>
          <a:prstGeom prst="roundRect">
            <a:avLst>
              <a:gd name="adj" fmla="val 1800"/>
            </a:avLst>
          </a:prstGeom>
          <a:solidFill>
            <a:srgbClr val="14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yale_myers_annual &lt;- yale_myers %&gt;%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reframe(.by = year,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tmean       = mean(tmean, na.rm = TRUE),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prcp        = sum(prcp,  na.rm = TRUE),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freeze_days = sum(freeze_day, na.rm = TRUE))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rows — one per year — with roughly 120–150 freeze days each.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PROMPT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1371600"/>
          </a:xfrm>
          <a:prstGeom prst="ellipse">
            <a:avLst/>
          </a:prstGeom>
          <a:solidFill>
            <a:srgbClr val="1F51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97280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ggplot of freeze days per year with year on the x-axis, a linear trend line, and complete axis labels and a title.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· 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91672" cy="4572000"/>
          </a:xfrm>
          <a:prstGeom prst="roundRect">
            <a:avLst>
              <a:gd name="adj" fmla="val 1800"/>
            </a:avLst>
          </a:prstGeom>
          <a:solidFill>
            <a:srgbClr val="14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ggplot(yale_myers_annual, aes(x = year, y = freeze_days)) +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geom_col() +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stat_smooth(method = lm, se = FALSE, color = "red") +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labs(title = "Annual freeze days at Yale-Myers Forest, 1990-2018",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x = "Year", y = "Days with tmin &lt;= 0 C")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stat_smooth(method = lm) adds the trend; freeze days drift modestly downward.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182880"/>
            <a:ext cx="457200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0" b="1" dirty="0">
                <a:solidFill>
                  <a:srgbClr val="1B4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886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CH4 tower network — sf, coordinate systems, distance, and mapping.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·  PROMPT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1371600"/>
          </a:xfrm>
          <a:prstGeom prst="ellipse">
            <a:avLst/>
          </a:prstGeom>
          <a:solidFill>
            <a:srgbClr val="1F51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97280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site table, filter to CH4 sites (report the counts), drop missing coordinates, build sf points in EPSG 4326, and transform to the projected CRS 4087.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· 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91672" cy="4572000"/>
          </a:xfrm>
          <a:prstGeom prst="roundRect">
            <a:avLst>
              <a:gd name="adj" fmla="val 1800"/>
            </a:avLst>
          </a:prstGeom>
          <a:solidFill>
            <a:srgbClr val="14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fluxnet_sites &lt;- read.csv("data/FluxNet_Sites_2024.csv")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fluxnet_ch4   &lt;- fluxnet_sites %&gt;% filter(FLUXNET.CH4 != "")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nrow(fluxnet_sites)   # 268 total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nrow(fluxnet_ch4)     # 81 with CH4 data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fluxnet_ch4_located &lt;- fluxnet_ch4 %&gt;%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filter(!is.na(LOCATION_LONG), !is.na(LOCATION_LAT))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fluxnet_ch4_wgs84 &lt;- st_as_sf(fluxnet_ch4_located,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coords = c("LOCATION_LONG","LOCATION_LAT"), crs = 4326)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fluxnet_ch4_proj  &lt;- st_transform(fluxnet_ch4_wgs84, crs = 4087)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total sites, 81 with CH4 data. Degrees aren't a constant ground distance, so project to meters before measuring distance.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·  PROMPT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1371600"/>
          </a:xfrm>
          <a:prstGeom prst="ellipse">
            <a:avLst/>
          </a:prstGeom>
          <a:solidFill>
            <a:srgbClr val="1F51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97280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each CH4 tower's distance to its nearest neighbor in kilometers, and identify the single most isolated tower.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· 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91672" cy="4572000"/>
          </a:xfrm>
          <a:prstGeom prst="roundRect">
            <a:avLst>
              <a:gd name="adj" fmla="val 1800"/>
            </a:avLst>
          </a:prstGeom>
          <a:solidFill>
            <a:srgbClr val="14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dmat &lt;- as.matrix(st_distance(fluxnet_ch4_proj)) / 1000   # km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diag(dmat) &lt;- NA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fluxnet_ch4_proj &lt;- fluxnet_ch4_proj %&gt;%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mutate(nearest_km = apply(dmat, 1, min, na.rm = TRUE))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fluxnet_ch4_proj %&gt;% st_drop_geometry() %&gt;%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arrange(desc(nearest_km)) %&gt;%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select(SITE_ID, SITE_NAME, nearest_km) %&gt;%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head(1)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self-distance (diagonal) before taking each row's minimum.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·  PROMPT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1371600"/>
          </a:xfrm>
          <a:prstGeom prst="ellipse">
            <a:avLst/>
          </a:prstGeom>
          <a:solidFill>
            <a:srgbClr val="1F51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97280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CH4 towers to country and continent polygons from rnaturalearth, count towers per continent, and map them colored by continent.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· 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91672" cy="4572000"/>
          </a:xfrm>
          <a:prstGeom prst="roundRect">
            <a:avLst>
              <a:gd name="adj" fmla="val 1800"/>
            </a:avLst>
          </a:prstGeom>
          <a:solidFill>
            <a:srgbClr val="14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 &lt;- ne_countries(scale = "medium", returnclass = "sf") %&gt;%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filter(continent %in% c("Europe","Asia","North America",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"South America","Africa","Oceania")) %&gt;%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st_transform(4087) %&gt;% st_make_valid()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world_context &lt;- world %&gt;% select(country = name, continent, geometry)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ch4_joined &lt;- fluxnet_ch4_proj %&gt;% st_join(world_context, join = st_within)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ch4_joined %&gt;% st_drop_geometry() %&gt;% count(continent, name = "ch4_sites")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ggplot() +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geom_sf(data = world, fill = "gray95", color = "white") +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geom_sf(data = ch4_joined, aes(color = continent), size = 1.8) +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labs(title = "Global distribution of FLUXNET CH4 towers", color = "Continent")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CH4 towers cluster in North America and Europe; few are in Africa or much of Asia.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3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182880"/>
            <a:ext cx="457200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0" b="1" dirty="0">
                <a:solidFill>
                  <a:srgbClr val="1B4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Raster Data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886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space and analogs — terra, raster algebra, and similarity.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 ·  PROMPT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1371600"/>
          </a:xfrm>
          <a:prstGeom prst="ellipse">
            <a:avLst/>
          </a:prstGeom>
          <a:solidFill>
            <a:srgbClr val="1F51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97280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GlobalClimate.tif, report the layer names, create temp_range = TMAX − TMIN, add it to the stack, and plot mean annual temperature.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 · 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91672" cy="4572000"/>
          </a:xfrm>
          <a:prstGeom prst="roundRect">
            <a:avLst>
              <a:gd name="adj" fmla="val 1800"/>
            </a:avLst>
          </a:prstGeom>
          <a:solidFill>
            <a:srgbClr val="14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global_climate &lt;- rast("data/GlobalClimate.tif")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names(global_climate)          # "MAP" "TMIN" "TMAX" "MAT"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temp_range &lt;- global_climate$TMAX - global_climate$TMIN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names(temp_range) &lt;- "temp_range"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climate_stack &lt;- c(global_climate, temp_range)</a:t>
            </a: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endParaRPr lang="en-US" sz="1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plot(climate_stack$MAT, main = "Mean annual temperature")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MAP, TMIN, TMAX, MAT — plus the new temp_range.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 ·  PROMPT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1371600"/>
          </a:xfrm>
          <a:prstGeom prst="ellipse">
            <a:avLst/>
          </a:prstGeom>
          <a:solidFill>
            <a:srgbClr val="1F51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97280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global climate values (including temp_range) to the CH4 towers and to a Yale-Myers point, then combine into one climate table.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 · 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91672" cy="4572000"/>
          </a:xfrm>
          <a:prstGeom prst="roundRect">
            <a:avLst>
              <a:gd name="adj" fmla="val 1800"/>
            </a:avLst>
          </a:prstGeom>
          <a:solidFill>
            <a:srgbClr val="14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ch4_vals &lt;- terra::extract(climate_stack, vect(fluxnet_ch4_wgs84)) %&gt;%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select(-ID) %&gt;% rename_with(~ paste0("raster_", .x))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ch4_climate &lt;- fluxnet_ch4_wgs84 %&gt;% st_drop_geometry() %&gt;%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bind_cols(ch4_vals) %&gt;% mutate(site_group = "CH4 site")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yale_sf &lt;- tibble(SITE_ID = "Yale-Myers", SITE_NAME = "Yale-Myers Forest",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IGBP = "WET",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LOCATION_LAT = 41.952909, LOCATION_LONG = -72.123859) %&gt;%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st_as_sf(coords = c("LOCATION_LONG","LOCATION_LAT"), crs = 4326, remove = FALSE)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yale_vals &lt;- terra::extract(climate_stack, vect(yale_sf)) %&gt;%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select(-ID) %&gt;% rename_with(~ paste0("raster_", .x))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yale_climate &lt;- yale_sf %&gt;% st_drop_geometry() %&gt;%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bind_cols(yale_vals) %&gt;% mutate(site_group = "Yale-Myers reference")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climate_context &lt;- bind_rows(ch4_climate, yale_climate)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terra::extract accepts WGS84 points; one climate row per tower plus a Yale-Myers row.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 ·  PROMPT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1371600"/>
          </a:xfrm>
          <a:prstGeom prst="ellipse">
            <a:avLst/>
          </a:prstGeom>
          <a:solidFill>
            <a:srgbClr val="1F51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97280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the raster climate variables, compute Euclidean distances among sites, and return the five CH4 towers most similar to Yale-Myers.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 · 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91672" cy="4572000"/>
          </a:xfrm>
          <a:prstGeom prst="roundRect">
            <a:avLst>
              <a:gd name="adj" fmla="val 1800"/>
            </a:avLst>
          </a:prstGeom>
          <a:solidFill>
            <a:srgbClr val="14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climate_vars &lt;- c("raster_MAP","raster_MAT","raster_TMIN",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"raster_TMAX","raster_temp_range")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 &lt;- climate_context %&gt;%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select(SITE_ID, SITE_NAME, IGBP, site_group, all_of(climate_vars)) %&gt;%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drop_na()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 &lt;- scale(select(cand, all_of(climate_vars)))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&lt;- as.matrix(dist(scaled))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 &lt;- which(cand$SITE_ID == "Yale-Myers")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cand$dist_to_yale &lt;- d[yi, ]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 %&gt;% filter(SITE_ID != "Yale-Myers") %&gt;%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arrange(dist_to_yale) %&gt;%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select(SITE_ID, SITE_NAME, IGBP, dist_to_yale) %&gt;% head(5)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scale() first so precipitation doesn't dominate; the smallest distances are the closest analogs.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730 · Environmental Data Science in R — Intro to R Exam Review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2238</Words>
  <Application>Microsoft Macintosh PowerPoint</Application>
  <PresentationFormat>Widescreen</PresentationFormat>
  <Paragraphs>211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Malone, Sparkle</cp:lastModifiedBy>
  <cp:revision>2</cp:revision>
  <dcterms:created xsi:type="dcterms:W3CDTF">2026-09-17T15:58:12Z</dcterms:created>
  <dcterms:modified xsi:type="dcterms:W3CDTF">2026-09-17T16:21:50Z</dcterms:modified>
</cp:coreProperties>
</file>