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894d2288174bc3" /><Relationship Type="http://schemas.openxmlformats.org/officeDocument/2006/relationships/extended-properties" Target="/docProps/app.xml" Id="R34b770cf92794422" /><Relationship Type="http://schemas.openxmlformats.org/officeDocument/2006/relationships/officeDocument" Target="/ppt/presentation.xml" Id="R2078c07401f8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c75fbca4f4f34"/>
  </p:sldMasterIdLst>
  <p:notesMasterIdLst>
    <p:notesMasterId xmlns:r="http://schemas.openxmlformats.org/officeDocument/2006/relationships" r:id="Rca443fefd6584836"/>
  </p:notesMasterIdLst>
  <p:sldIdLst>
    <p:sldId xmlns:r="http://schemas.openxmlformats.org/officeDocument/2006/relationships" id="256" r:id="R21d4562dbf344cd6"/>
    <p:sldId xmlns:r="http://schemas.openxmlformats.org/officeDocument/2006/relationships" id="257" r:id="R7725d3d7d5404dbb"/>
    <p:sldId xmlns:r="http://schemas.openxmlformats.org/officeDocument/2006/relationships" id="258" r:id="R2e4d9f07d4b5400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803edd220443a" /><Relationship Type="http://schemas.openxmlformats.org/officeDocument/2006/relationships/slideMaster" Target="/ppt/slideMasters/slideMaster1.xml" Id="Rb64c75fbca4f4f34" /><Relationship Type="http://schemas.openxmlformats.org/officeDocument/2006/relationships/notesMaster" Target="/ppt/notesMasters/notesMaster1.xml" Id="Rca443fefd6584836" /><Relationship Type="http://schemas.openxmlformats.org/officeDocument/2006/relationships/presProps" Target="/ppt/presProps.xml" Id="Rfd71e15f30ff4e7a" /><Relationship Type="http://schemas.openxmlformats.org/officeDocument/2006/relationships/tableStyles" Target="/ppt/tableStyles.xml" Id="R916499ae6982444a" /><Relationship Type="http://schemas.openxmlformats.org/officeDocument/2006/relationships/slide" Target="/ppt/slides/slide1.xml" Id="R21d4562dbf344cd6" /><Relationship Type="http://schemas.openxmlformats.org/officeDocument/2006/relationships/slide" Target="/ppt/slides/slide2.xml" Id="R7725d3d7d5404dbb" /><Relationship Type="http://schemas.openxmlformats.org/officeDocument/2006/relationships/slide" Target="/ppt/slides/slide3.xml" Id="R2e4d9f07d4b540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451ba9f84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22e87ebef494f" /><Relationship Type="http://schemas.openxmlformats.org/officeDocument/2006/relationships/notesMaster" Target="/ppt/notesMasters/notesMaster1.xml" Id="R2d520c24afe3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da7e7ffe164a2b" /><Relationship Type="http://schemas.openxmlformats.org/officeDocument/2006/relationships/notesMaster" Target="/ppt/notesMasters/notesMaster1.xml" Id="Rff4129dc012b48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19168c1c6437f" /><Relationship Type="http://schemas.openxmlformats.org/officeDocument/2006/relationships/notesMaster" Target="/ppt/notesMasters/notesMaster1.xml" Id="Raa42cf8c9a1f4d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b02c27c1f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bac4864a60492e" /><Relationship Type="http://schemas.openxmlformats.org/officeDocument/2006/relationships/slideLayout" Target="/ppt/slideLayouts/slideLayout1.xml" Id="R69464b34a94243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64b34a94243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36a7acc324c15" /><Relationship Type="http://schemas.openxmlformats.org/officeDocument/2006/relationships/notesSlide" Target="/ppt/notesSlides/notesSlide1.xml" Id="R16588ab13095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5eb6edd184c4c" /><Relationship Type="http://schemas.openxmlformats.org/officeDocument/2006/relationships/notesSlide" Target="/ppt/notesSlides/notesSlide2.xml" Id="Rf9a2b619f22d44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bd9688d3240bd" /><Relationship Type="http://schemas.openxmlformats.org/officeDocument/2006/relationships/notesSlide" Target="/ppt/notesSlides/notesSlide3.xml" Id="R10e53e4f082e4f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4F73C1-32F0-4FC6-8F85-187945D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 scale-inference error in the global methane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71FF0-32A1-4C09-9DD1-C9B52EDC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The chamber-measured soil sink is treated as the whole upland budget, but they are different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FBAE3-6CC7-4EC5-A0EC-A24F75D7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6381750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FDB9C-6ECD-45ED-9C33-C145EF96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6143625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E75AE-C873-4F13-951A-10D29FD9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CHAMBER — measurement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2BCD8-F6DF-4034-BF84-8B700FBB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71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 — inference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1607B-172F-4997-87A5-15AFC416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sees only the soil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ABF40-E787-456E-B20C-98482CCE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2382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3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29C99-935D-458F-8168-610F7E35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chamber</a:t>
            </a:r>
          </a:p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collar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AFFD4-B9C5-48BB-9820-368367A7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58483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77C16-08FF-4A34-B1FD-16985551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339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rPr>
              <a:t>aerated soil · methanotrophy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3E680-0EB6-4926-947E-BCAA1D8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91125"/>
            <a:ext cx="361950" cy="952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590BF-4968-4AEB-9F29-A3B39A9F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CH₄ uptake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409AC-6B1A-4769-A35B-5B736B62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91250"/>
            <a:ext cx="5334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D8921-4FD4-47F2-B35C-E446055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315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Assumed soil sink: −11 to −49 Tg CH₄ yr⁻¹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14CE9-14DE-4830-9D23-E745DBCD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52825"/>
            <a:ext cx="71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C798F-E592-46B4-AB5B-FD3FB4ED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58102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14737-6033-4745-AB96-BBF0255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619125" cy="2809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69DB3-8377-435E-B91F-9A1CFFFB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D74B2-6C6D-45E9-904C-404F85A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7CC12-FF24-436D-B610-DCB56B8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66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stems · canopy · microsites · transport · lateral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7823E-8A14-4620-8D1A-35B128D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DFCB2-E85A-427A-B8DB-CAE25CA9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A0545-97A8-489B-88DB-41A809DE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15D7B-EA2D-4315-A8FA-8FE6F462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88729-D5C4-40BE-9136-93C6190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DC945-B14E-4427-8739-EE9B2F5F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878E3-1E76-4E69-9BF2-4C6A028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429125"/>
            <a:ext cx="323850" cy="838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581F7-6A96-4A1C-B570-EF9A336F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551497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soil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979C92-05C0-477C-B1E6-EA2DD1B1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095875"/>
            <a:ext cx="8572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85A5D-F38B-4923-B6E0-C91491A4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91000"/>
            <a:ext cx="304800" cy="7810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0B5AB-DAF5-45DD-AFE9-3BEDCA08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51497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wet spot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046EB-E991-4007-B372-E749FAA5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51460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BEE4D-3B27-4BDA-8A10-733DBFC0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266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05C59A-ACF7-4A66-8DA0-D660E7B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7241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0648A3-5980-45EC-9EE5-2FD500F0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17182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F0E7A2-A1A7-4882-BC12-5732D1B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61950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492AD9-B55B-4EC0-98A8-EBFB18C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06717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2B733A-2F59-41BC-988E-87BD541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5148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B241BA-4B19-4132-95E6-1CD665D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52863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F484E7-1580-4B2B-ACEB-4416DC0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1507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Ecosystem-scale: +22 to +75 Tg CH₄ yr⁻¹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5F3BBA-0962-4843-ABE8-0B67EE35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58100"/>
            <a:ext cx="14097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92B629-8BC2-4151-8B4F-A77C3051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81925"/>
            <a:ext cx="1343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83% of NEON upland sites (2021–2024) are net CH₄ sources — the soil sink is not the upland budget</a:t>
            </a:r>
          </a:p>
        </p:txBody>
      </p:sp>
    </p:spTree>
    <p:extLst>
      <p:ext uri="{BB962C8B-B14F-4D97-AF65-F5344CB8AC3E}">
        <p14:creationId xmlns:p14="http://schemas.microsoft.com/office/powerpoint/2010/main" val="1893041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1C093E-7E40-49BA-A593-D5499859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3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The Upland Methane Constraint: from existing observatory data to a budget-ready AI-ready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CA368-0355-4E65-90DD-95F01A1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No new field stations — value created by pipelining, harmonizing, and physically constraining data that already exist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8B19-8491-4294-AC8A-77A1D14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571750" cy="4572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CEED2-AA59-4398-A3BE-7BAD0E6C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EXISTING COMMUNITY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B6870-3D34-4872-8740-84491D8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050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B8812-930B-4AA9-96FF-5C415754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NEON gradient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ED555-6B11-430E-B2E2-51388033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47 towers · vertical CH₄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8DB95-5D70-479E-97D5-FE96BBC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FA01B-1E8C-47BC-BEA4-8FD63BCE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337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AmeriFlux / FLUXNET-CH₄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9BBD5-C164-47FE-BCEE-4CAF3315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CH₄ fluxes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DD170-7A9F-431B-8C3C-E1099118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8ADC4-901B-4D50-9A27-E15AEDBC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7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ICOS + validation towers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22AF0-8779-441A-8CB5-C8229B06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720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+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55008-9BD7-4E1D-ACB1-910B0AA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6BE40-20F5-48EF-8091-84207FD8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006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235B6-895F-46EE-8109-04CA4B2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054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ERA5 · MODIS · WAD2M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E0FF4-41D9-4642-B9C2-06DB13B0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open-licensed · not AI-ready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59772-C280-4F28-89BD-18790E2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2EA7E-E071-4347-9D06-8E97835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C670B-7427-4CFE-8B20-713A007E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763E2-B318-4444-8B67-F2506CAB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D3F27-0D4C-474F-A8DB-910C718C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Automated GF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F3A1E-3D53-4B70-B1B7-90BD750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Reproducible, self-updating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NEON gradient fluxes with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CA4E2-FA8F-4065-80C3-DFD5CFD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60D04-B783-433D-B380-0C7FC484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5E43C-037B-482E-8D43-6340AB50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NEON-GF-CH₄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28443-08A1-45AD-B2DA-C46131D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13CA0-77EA-4840-BB6F-65C8778C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949CD-A757-4306-966B-7E1023FF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7E062-1EED-4FB7-A944-E794240E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6A7F2-59B2-4CCB-B428-11EFB4C5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Harmonized corpus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F781A3-0050-4003-82A6-A1709349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Multi-network,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cross-method, feature-rich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training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1D14DA-FD30-4A75-9B28-C117A11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8A18F-345B-448D-AA9D-E98397A3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FB644F-6FE0-448F-AE40-9424AA49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UMC-Train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9FDB7E-C37F-4EB8-B30F-E303521A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C94D04-8FC0-4713-BD0E-8F27BEB2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C8DC7-740C-4353-8FDA-DF200E0F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7BC6C4-8FEA-42EF-A896-92C322B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8D9EA-B8F0-4886-A30F-E1A2A96B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Knowledge-guided ML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39B462-4F14-4FF3-8018-9EE95138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Physics-constrained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upscaling that transfers to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unseen sites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A8EB7B-0F27-449A-9589-A3E2F4C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4A9490-36DD-4349-98B6-00806C7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368DF5-F824-4872-A993-3549465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UMC-Grid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EDD61D-BFF0-4A45-B626-F513A1BA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337CAA-A9D9-40C5-8949-DB9F5B77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005A3C-24AD-4C28-93E6-93DEBE96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9B6AF4-4310-4737-A074-8BE83FA8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788BB9-6930-4934-8192-A1A68BAB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Inversion &amp; reconciliation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20CAF6-6E54-497F-A49C-25347387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Top-down, bottom-up &amp;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process-model constraint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94AD8B-8B52-4E4A-9008-CA12DBD5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F323D6-AA56-4132-AE6F-611E37C5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960DC9-3411-474A-9097-ABEBC01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UMC-Constraint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A6138-E7D2-4E82-84B7-10130C93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2CD4A-98E5-46C4-BF85-7743C27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65C27C-694C-4CB6-A3F3-F743CC0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33E010-8A37-47DE-8275-C8A1473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398EEA-39F5-415C-8266-E5594DF0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F8E4FC-404E-43C2-AE00-E20A888C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24075"/>
            <a:ext cx="1143000" cy="3219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92C47D-1CCF-4DFB-804E-88363A2E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619375"/>
            <a:ext cx="95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CARBON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B95B7D-054F-4954-B31C-02C5B173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8766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Global Methane</a:t>
            </a:r>
          </a:p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51C43A-8D6D-4881-B78C-9EBA8206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6386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rPr>
              <a:t>IPCC · inventories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60898A-58FE-4C9C-AEB8-61027535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62625"/>
            <a:ext cx="1042987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111110-2E94-4AA0-9919-4D1CCEBD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05500"/>
            <a:ext cx="9972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Governed, versioned, FAIR open release · DOIs &amp; provenance · continuously updated as networks grow</a:t>
            </a:r>
          </a:p>
        </p:txBody>
      </p:sp>
    </p:spTree>
    <p:extLst>
      <p:ext uri="{BB962C8B-B14F-4D97-AF65-F5344CB8AC3E}">
        <p14:creationId xmlns:p14="http://schemas.microsoft.com/office/powerpoint/2010/main" val="1077413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B635CF-E541-446A-B629-743020FF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Knowledge-guided machine learning restores site-to-site transferability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3BB40-461F-4352-B366-7704BD56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Embedding methane process physics into learning fixes the leave-one-site-out collapse of standard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406AA-66C3-4940-AD64-B4B3F7DD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2190750" cy="39052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538F0-2638-463E-9AFC-4C43FD8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4FCA6-9C22-484D-BE98-99E316B5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Harmonized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AI-ready features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(UMC-Train)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E1FBD-2F71-4B3E-85BF-233F9F15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climate · soil moisture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aridity · land cover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site priors · footprint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81485-383F-4862-9788-3183BA1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4953000" cy="16192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E"/>
          </a:solidFill>
          <a:ln xmlns:a="http://schemas.openxmlformats.org/drawingml/2006/main" w="19050">
            <a:solidFill>
              <a:srgbClr val="DF8A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AAAB0-0B0C-4C74-8EE9-6E3030E2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811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rPr>
              <a:t>PROCESS CONSTRAINTS (knowledge)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FDF14-36A6-4986-8B8B-5624BCE5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78787-5F92-4849-B6F7-A98B6F2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Diffusion-limited uptake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DD42C-9A22-4F11-97B0-E4998C9C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7AD2F-D9D5-437A-9958-E476D1F6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Moisture &amp; aridity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5EB5A-AFDB-4181-828E-5932B87B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868BB-1D7E-4AA8-B2CC-D484BE3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Methanotroph / methanogen Q₁₀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647DD-CBA9-45DE-AE6F-56E1DD1E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17D2C-3016-4C33-BC25-528EE72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Sign, monotonicity &amp; mass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B1894-9305-4BF7-8B56-37C3F4E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5415B-8147-4246-8E99-A643C1C1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Reduced process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emulator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(MeMo-informed)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A6303-B4AC-4A0B-B466-AD05BDF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45CE4-F7BB-4CAF-9E73-3F5F1DED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ML residual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learns the correction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8A23C-9CDC-475B-8E3A-E7815EB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67125"/>
            <a:ext cx="40957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F06BF-C38B-4C98-BE23-C9AC303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3619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6FED9-F9E0-4121-A81B-F89593A1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002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9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1CCD7-9891-4407-AF5E-1ACF4F13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41277-106B-423F-B5A0-80474C5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14D33-E5B5-4497-911D-7730DE93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19575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54847-4724-43B1-8A2F-58E9479D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086600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2EDB1B-B1D1-46FC-A807-51EFF65C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509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685D7-7558-4F34-832D-81592A1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483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Constrained prediction = physics baseline + bounded ML residual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342DE-6930-40CB-A4D7-B45EBAB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95975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54388-F740-4A74-ACC6-BF372D26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6400800" cy="4648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C0635-100E-41A9-9069-E74CF4B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29FCB1-586F-46CF-AB81-37691B18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479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 gridded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upland CH₄ flux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(UMC-Grid)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AAC17A-E1AC-4078-8BD0-36B330B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per-cell uncertainty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source probability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applicability mask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060199-92FA-4C97-ACD7-182C5BEE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62750"/>
            <a:ext cx="14525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E9CBC-B8E6-4621-B00D-E85C994B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915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Why it matters: recovering skill at unseen sites (leave-one-site-out)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6A970-86A2-40DE-B48C-BB279FB9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9F8C59-FB7F-42B3-80D9-39A9BB9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3C1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B71274-4036-4791-847E-9A2B938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7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47800B-04FB-44B4-A64A-728C9B3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58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070357-DBB0-4D1E-B316-1B25D34C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62E9DF-4B68-4771-8FA6-A70F1B8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75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D2DB72-160E-43CC-ABE4-F5479207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70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73A415-3205-4724-B7DE-D153671C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298FC8-285D-4587-8DBE-10AE5AB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64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AD5793-C816-4309-9380-3761DABF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69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F7FE44-7E69-4790-9B7B-5600A94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CD1B4F-6308-49DB-BEA6-8B5672CA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5B2A40-AE2E-4FE7-A938-9A08577F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7E8B6F-85D9-4109-94E6-D2689A6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509D04-3756-4A39-90E3-4FC42D1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2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Standard RF: CCC &lt; 0.1 (flat — predicts the mean)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A8A856-A2D2-4500-A733-F51E0B4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4199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9F962A-FB96-4E22-968F-58C0EAE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06A20D-8B10-42FA-B206-EEAF2BB5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3C1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2922CF-DFF1-4B39-AA12-8A8AFA3B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81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679DBC-8F57-4D42-B084-970D5D2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87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9C8423-859F-4779-93C5-9599AFE9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78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B47503-5DE4-44AD-A74F-C28E76F0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67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86D3E7-5910-499E-A88D-D1EA6DED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68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F5A2A2-A2C0-4DB8-8B98-7A5D7185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62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448FBC-977A-4FF9-A456-47544E7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61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B2A697-5401-4571-8443-8B2B112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57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ACA632-BBE2-451F-A467-FF02743F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43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22C7C6-1797-49A6-A8A9-47C67085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740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B80046-18F7-4DE9-97AC-75728BC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48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0E5C6B6-163E-40E6-98E2-A296BF26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42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3B30B1-96F1-432A-94A0-6F7E124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23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4A3794-6482-41B6-B354-860C9975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0200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KGML: constraints restore the 1:1 relationship</a:t>
            </a:r>
          </a:p>
        </p:txBody>
      </p:sp>
    </p:spTree>
    <p:extLst>
      <p:ext uri="{BB962C8B-B14F-4D97-AF65-F5344CB8AC3E}">
        <p14:creationId xmlns:p14="http://schemas.microsoft.com/office/powerpoint/2010/main" val="2124625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2026-09-04T14:31:04.8930000Z</dcterms:created>
  <dcterms:modified xsi:type="dcterms:W3CDTF">2026-09-04T14:31:04.8930000Z</dcterms:modified>
</coreProperties>
</file>