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d915e79f24666" /><Relationship Type="http://schemas.openxmlformats.org/officeDocument/2006/relationships/extended-properties" Target="/docProps/app.xml" Id="R407cbea959784c3c" /><Relationship Type="http://schemas.openxmlformats.org/officeDocument/2006/relationships/officeDocument" Target="/ppt/presentation.xml" Id="Rbb81c8859b9a41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3d80ae2d474d4a"/>
  </p:sldMasterIdLst>
  <p:notesMasterIdLst>
    <p:notesMasterId xmlns:r="http://schemas.openxmlformats.org/officeDocument/2006/relationships" r:id="R4d85bb8700ce4dac"/>
  </p:notesMasterIdLst>
  <p:sldIdLst>
    <p:sldId xmlns:r="http://schemas.openxmlformats.org/officeDocument/2006/relationships" id="256" r:id="R302509a0ec624b39"/>
    <p:sldId xmlns:r="http://schemas.openxmlformats.org/officeDocument/2006/relationships" id="257" r:id="Ra3454826d72e4b40"/>
    <p:sldId xmlns:r="http://schemas.openxmlformats.org/officeDocument/2006/relationships" id="258" r:id="R4efb82df2d9b4b8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3cbda2508490f" /><Relationship Type="http://schemas.openxmlformats.org/officeDocument/2006/relationships/slideMaster" Target="/ppt/slideMasters/slideMaster1.xml" Id="R103d80ae2d474d4a" /><Relationship Type="http://schemas.openxmlformats.org/officeDocument/2006/relationships/notesMaster" Target="/ppt/notesMasters/notesMaster1.xml" Id="R4d85bb8700ce4dac" /><Relationship Type="http://schemas.openxmlformats.org/officeDocument/2006/relationships/presProps" Target="/ppt/presProps.xml" Id="Rbeae1f26f4e142d4" /><Relationship Type="http://schemas.openxmlformats.org/officeDocument/2006/relationships/tableStyles" Target="/ppt/tableStyles.xml" Id="Rb98e393cf8674124" /><Relationship Type="http://schemas.openxmlformats.org/officeDocument/2006/relationships/slide" Target="/ppt/slides/slide1.xml" Id="R302509a0ec624b39" /><Relationship Type="http://schemas.openxmlformats.org/officeDocument/2006/relationships/slide" Target="/ppt/slides/slide2.xml" Id="Ra3454826d72e4b40" /><Relationship Type="http://schemas.openxmlformats.org/officeDocument/2006/relationships/slide" Target="/ppt/slides/slide3.xml" Id="R4efb82df2d9b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96be74284242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bab964115412e" /><Relationship Type="http://schemas.openxmlformats.org/officeDocument/2006/relationships/notesMaster" Target="/ppt/notesMasters/notesMaster1.xml" Id="R78cfb1bc2bcf42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0b00741d84124" /><Relationship Type="http://schemas.openxmlformats.org/officeDocument/2006/relationships/notesMaster" Target="/ppt/notesMasters/notesMaster1.xml" Id="R9550104c6d1a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6986c55e254528" /><Relationship Type="http://schemas.openxmlformats.org/officeDocument/2006/relationships/notesMaster" Target="/ppt/notesMasters/notesMaster1.xml" Id="R54643870023748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d5894eee347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cf8dedf50e430c" /><Relationship Type="http://schemas.openxmlformats.org/officeDocument/2006/relationships/slideLayout" Target="/ppt/slideLayouts/slideLayout1.xml" Id="Ra09ec417990040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9ec417990040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d32913b624728" /><Relationship Type="http://schemas.openxmlformats.org/officeDocument/2006/relationships/notesSlide" Target="/ppt/notesSlides/notesSlide1.xml" Id="R9cbb2443ea18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1be255562469b" /><Relationship Type="http://schemas.openxmlformats.org/officeDocument/2006/relationships/notesSlide" Target="/ppt/notesSlides/notesSlide2.xml" Id="R06c41310ff31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5d78c4f0341d6" /><Relationship Type="http://schemas.openxmlformats.org/officeDocument/2006/relationships/notesSlide" Target="/ppt/notesSlides/notesSlide3.xml" Id="Rbf0745145e2042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092E92-24E1-4C8F-8D5C-F1888EDE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 scale-inference error in the global methane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02495-3AC1-41C8-AD8B-F2068F05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The chamber-measured soil sink is treated as the whole upland budget, but they are different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99990-918D-4DC0-9C5E-AEC73A5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6381750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421A6-9566-4B61-A595-CDC79174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6334125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325B3-BCB4-44F6-893D-6B65558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CHAMBER — measurement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65962-E052-4245-A4F9-B57B8D6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71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 — inference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231D6-2033-415C-A134-2831AE1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sees only the soil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3D395-0F54-42B8-B6BE-AC0FD8BC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2382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3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6D1E0-C648-41FF-9D04-8BF0C87E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chamber</a:t>
            </a:r>
          </a:p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collar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982F1-4137-4CB5-A938-E51F26E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58483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9C4FC-4239-4BF5-980F-3FB291AD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339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rPr>
              <a:t>aerated soil · methanotrophy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6265C-13AE-43CD-ADA1-5F9FBC1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91125"/>
            <a:ext cx="361950" cy="952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2703E-1859-40BC-AFD4-97372CB6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CH₄ uptake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F4041-31DA-4E8C-8B82-4F5EE32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91250"/>
            <a:ext cx="5334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24FFE-E66E-494B-94FB-6A5A1678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315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Assumed soil sink: −11 to −49 Tg CH₄ yr⁻¹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1F9DA-7FD6-4100-8C87-285B6EE1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52825"/>
            <a:ext cx="71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FC5B7-CA8E-44C5-805C-A85BCF6B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58102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9E36A-AFEB-478D-AE62-0989030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619125" cy="2809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A120E-1FC0-4C36-B289-1C8211D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60BCC-D6ED-47AD-8F71-49A28973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F7C8D-B10F-4E3B-96C5-74D91BCC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66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stems · canopy · microsites · transport · lateral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4A73D-8A1F-4509-8CE7-CC8B229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87E73-2F6D-44BF-A09F-43A6D59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C8A09-84BE-4B14-A80A-F2D11B1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B1325-4365-4AF0-8963-B75B17F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D1C79-34D9-42A7-8427-B102BCE8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C20E6-3A69-431F-B1C4-4DDD1199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E91FD-C547-44C5-9A26-D1F2D88A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429125"/>
            <a:ext cx="323850" cy="838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5FB67-4F2C-47F4-947C-9D2BC4C2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551497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soil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F1763-CA34-4CF1-92BA-D3BDD04C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095875"/>
            <a:ext cx="8572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192C1-883E-40FD-8162-B979F8A2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91000"/>
            <a:ext cx="304800" cy="7810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821DC-7DF5-4A89-9404-2206934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51497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wet spot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35EA0-8105-4728-A494-EC6BBED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51460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4D8262-8F72-4EA7-9015-19379A0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266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D89DF-D667-4A91-B5D2-8C4EC78E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7241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23FFB8-45A0-408F-930D-FE4D77B2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17182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F341E7-E6D4-46B2-B393-2528B41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61950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C18BBA-0F15-41AC-859A-C5AD506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06717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5AEA6-4703-4F65-9A5A-076A30C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5148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6619F4-997C-4E4A-9E65-FCEA7F8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52863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3B7869-B79E-437A-9C85-2A0CB6B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1507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Ecosystem-scale: +22 to +75 Tg CH₄ yr⁻¹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75FF07-075C-4C7C-9699-51C8261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58100"/>
            <a:ext cx="14097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1893B8-1132-405A-BE61-8AD1C56B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81925"/>
            <a:ext cx="1343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83% of NEON upland sites (2021–2024) are net CH₄ sources — the soil sink is not the upland budget</a:t>
            </a:r>
          </a:p>
        </p:txBody>
      </p:sp>
    </p:spTree>
    <p:extLst>
      <p:ext uri="{BB962C8B-B14F-4D97-AF65-F5344CB8AC3E}">
        <p14:creationId xmlns:p14="http://schemas.microsoft.com/office/powerpoint/2010/main" val="72151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07FC42-F8CB-45B4-B42E-EB545CB7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3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The Upland Methane Constraint: from existing observatory data to a budget-ready AI-ready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7241B-4ACA-4B94-AA2B-A77A2F58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No new field stations — value created by pipelining, harmonizing, and physically constraining data that already exist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D1442-F08B-4EA3-8FA1-3DDC922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571750" cy="4572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39D01-4D01-4B11-859C-A158C288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EXISTING COMMUNITY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DAD47-23D2-42E0-8E29-C8AA29A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050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0EA5D-55DA-4A45-8661-FF72FF8D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NEON gradient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9F68-AE45-4319-BCCF-E0BA43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47 towers · vertical CH₄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25AA1-DC3A-43C2-A632-503928D4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3332D-DBBE-48AA-A97F-FB45086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337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AmeriFlux / FLUXNET-CH₄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65850-675E-4452-993B-8E90F311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CH₄ fluxes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59EEC-1B0B-4EE6-AF4A-DD5BBE25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69D24-E1A3-4124-AF46-83E9939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7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ICOS + validation towers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7123-FAFD-42AD-A637-EADDE9D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720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+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1D0CD-73D2-49D0-ACA7-1B7961A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DFB32-2DEB-4CD6-A223-8FFAC912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006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72559-7C24-415A-A292-FCFE7218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054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ERA5 · MODIS · WAD2M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47144-F57D-4D64-93CE-04099646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open-licensed · not AI-ready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EE3D8-5E75-4AC8-A059-B8236BA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519F6-53B8-429E-86BF-55FE0347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2D581-7CB3-4DF7-9277-E2BCC00F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2BA34-1903-4494-909B-F1BE4F6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92D9B-600C-47E4-A7A8-5C3536B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Automated GF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F4711-3CAF-44F5-B9E3-4E3BE041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Reproducible, self-updating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NEON gradient fluxes with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C73C8-6836-4041-908C-8810A61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E7438-B4B4-4EC9-AD4B-3023060A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145C6-558D-48AE-AAC4-4BD1EC7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NEON-GF-CH₄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B78C3-FE60-491E-80F5-E03E1A75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B77F1-679F-4556-A5B4-D39CCCD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FCCFE-AEBA-4536-825E-7F2A38A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E98034-3688-4066-A238-B0BA50B2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C5D882-3A1A-44EF-8ADF-70220BA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Harmonized corpus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0E921-A6D9-4780-B041-2DECE39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Multi-network,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cross-method, feature-rich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training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3288C-C77A-41E7-B84C-365BEA1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271D87-179C-4E38-9411-72F5A49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3F487-A703-4143-8F30-04E7403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UMC-Train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A0F841-3BD2-4E0A-9E91-CBB859CA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FCE1F-325E-4FCF-83FF-401CA5E4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F7B2B4-07E9-4148-973F-A1893EBD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183C2D-3F64-417A-A460-11F1DD8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E8716-6BAB-4AC5-954E-0BC408D2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Knowledge-guided ML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CFFADC-DCB4-4114-9A9E-DC02848D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Physics-constrained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upscaling that transfers to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unseen sites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6E3E5D-E5BB-469D-A30F-0F06A3B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FC9000-7C8B-4E61-895A-86452B3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B90513-1007-4F43-82CA-A57B5315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UMC-Grid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BC4399-1CC1-4A29-817E-FADC0E2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58A41A-DFBE-4321-8DC5-8A89FD2B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B060FB-63C4-4C16-A1B0-87D3835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6FB96C-3FDE-486D-857E-AFE70D7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EC8156-8664-4C56-93E3-BF6ACA9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Inversion &amp; reconciliation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FE43C8-78E2-4ABD-BB68-AAE8AFCD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Top-down, bottom-up &amp;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process-model constraint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EFB64C-7361-488E-AEDB-2D6A141D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F63B9A-7B9C-4104-96C0-AB03F869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88C9CE-93BF-4A0E-A156-7F2FD75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UMC-Constraint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B58E51-025C-4D32-AB17-E2665A3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A3BD04-2D8C-46B7-B103-E8CE53E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7D964C-FCCD-4DB2-9892-20EFB7BB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617508-11C7-4706-9519-6F1826D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39D0BB-B62E-4CD0-83B4-566FD03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39B8B6-F9D5-41DE-8E8C-4F26C29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24075"/>
            <a:ext cx="1143000" cy="3219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19E757-420F-44EE-86A2-E52E978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619375"/>
            <a:ext cx="95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CARBON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4E60EE-C9A7-48ED-B5CA-3FAF928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8766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Global Methane</a:t>
            </a:r>
          </a:p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391A6A-25A5-4A71-8E7B-4AF08F3C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6386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rPr>
              <a:t>IPCC · inventories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1163D9-EBC0-4233-8F5F-59BDE0C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62625"/>
            <a:ext cx="1042987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ED3FF9-EC4C-4F95-897C-F3DBDCD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05500"/>
            <a:ext cx="9972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Governed, versioned, FAIR open release · DOIs &amp; provenance · continuously updated as networks grow</a:t>
            </a:r>
          </a:p>
        </p:txBody>
      </p:sp>
    </p:spTree>
    <p:extLst>
      <p:ext uri="{BB962C8B-B14F-4D97-AF65-F5344CB8AC3E}">
        <p14:creationId xmlns:p14="http://schemas.microsoft.com/office/powerpoint/2010/main" val="1749622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218EA79-E6C1-4073-A0CA-AFB2D609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Knowledge-guided machine learning restores site-to-site transferability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D94F0-0488-49B7-A470-AEA6B37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Embedding methane process physics into learning fixes the leave-one-site-out collapse of standard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EDD3F-6A30-4D56-9A29-22528DB7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2190750" cy="39052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7D895-4679-4444-AA1C-92821972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F4BAD-DCB2-410C-A06E-D712B7B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Harmonized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AI-ready features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(UMC-Train)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4CEF4-C5C5-4A16-A801-2151769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climate · soil moisture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aridity · land cover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site priors · footprint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B1E3C-B0B7-47B1-8939-A96289D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4953000" cy="16192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E"/>
          </a:solidFill>
          <a:ln xmlns:a="http://schemas.openxmlformats.org/drawingml/2006/main" w="19050">
            <a:solidFill>
              <a:srgbClr val="DF8A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24EC1-CF26-4115-BDC3-F2E2B15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811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rPr>
              <a:t>PROCESS CONSTRAINTS (knowledge)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45FEA-B77B-48AC-B0F7-1FAAAD32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3AE33-05A0-4C5D-9FAF-F2EA360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Diffusion-limited uptake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E7F05-554A-4348-959D-0912E1E2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3048F-C254-4B18-B260-BB90374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Moisture &amp; aridity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5A4AC-68F1-4DA3-8FDD-7B1A2A70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75D0E-D033-4A00-B3E3-3D30B394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Methanotroph / methanogen Q₁₀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C4623-518A-4401-828B-355FEC88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20524-3778-4D03-9D3C-A46CD0AA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Sign, monotonicity &amp; mass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123D-11AB-4008-94FD-4CA5E1AE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E5DDE-035A-4CC7-A482-E941F962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481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6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Reduced process</a:t>
            </a:r>
          </a:p>
          <a:p xmlns:a="http://schemas.openxmlformats.org/drawingml/2006/main">
            <a:pPr algn="ctr">
              <a:defRPr sz="1425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emulator</a:t>
            </a:r>
          </a:p>
          <a:p xmlns:a="http://schemas.openxmlformats.org/drawingml/2006/main">
            <a:pPr algn="ctr">
              <a:defRPr sz="1425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(MeMo-informed)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A456C-0C5E-4EEE-865C-1FD054DD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1819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E614E-6EBD-4DAA-94E8-BD79C0F7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Reduced process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emulator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(MeMo-informed)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44ADF-7509-40C1-98DD-9D3B3887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190B8-0F4F-4BF0-B73E-34815735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481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6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ML residual</a:t>
            </a:r>
          </a:p>
          <a:p xmlns:a="http://schemas.openxmlformats.org/drawingml/2006/main">
            <a:pPr algn="ctr">
              <a:defRPr sz="142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  <a:p xmlns:a="http://schemas.openxmlformats.org/drawingml/2006/main">
            <a:pPr algn="ctr">
              <a:defRPr sz="142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learns the 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7131D-A501-4B62-84E9-2D905E3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1819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A8B55-0F4A-4D33-A23E-2C01C84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ML residual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learns the correction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87E85-2AB7-4C28-9677-C80852A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67125"/>
            <a:ext cx="40957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6F529-FD09-435B-9DCA-1908DC6A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3619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30D245-9312-41F1-B281-915E321E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002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9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FCCE7-B082-4694-BB07-D48479B6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C1395-8324-48E7-B887-279E90A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CB208-5A24-4250-A17B-B32C05F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19575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6A2EE-3F7F-40BD-9BC9-315C5092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086600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92945-6E57-459F-B9FA-381733C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509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44D7E-BA65-40D2-82D0-5095676C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483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Constrained prediction = physics baseline + bounded ML residual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BD13A7-A120-4185-832B-F892FAA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95975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9A1772-2BAA-4E1D-A65F-06A729D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6400800" cy="4648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A9E3D9-0C55-440D-B59F-B6FA842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5C35C-4AA1-442F-B795-8055771A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479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 gridded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upland CH₄ flux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(UMC-Grid)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9F4944-08C6-4176-9E0D-52A8E270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per-cell uncertainty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source probability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applicability mask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42865-A235-42EC-932A-9104CC6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62750"/>
            <a:ext cx="14525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B2F57E-AB34-4E43-A5E1-3434616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915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Why it matters: recovering skill at unseen sites (leave-one-site-out)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72D376-E1DB-4D02-B9AB-BE817B6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E88CC8-5157-4E10-B0E7-06995962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3C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7DD72-9D6F-4D7F-AC43-686A9F79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7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12F76F-6BDC-43C9-B791-C400D420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58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385B56-CFDC-453A-939A-4E573020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CB91AE-2D71-44F7-98C1-58E9B66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75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06DAB9-AD03-4E92-B21B-BC9B6666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70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55EF7D-D3BD-4C71-ABF7-55D4DF2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803601-21AA-4FE6-93DE-524E7572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64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FB75EF-B1AC-4738-9034-A9556AE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69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AA4C78-6C35-49EA-AF61-F6AEAED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63BF8B-96CC-4EE1-8E36-1FD6629F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3C79C0-7F63-48B4-A8E3-07CEBCA3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156D0C-F0FF-4DA2-903D-77AF913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648294-FB38-4E99-8143-BDD2AB7A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96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Standard RF: CCC &lt; 0.1 (flat — predicts the mean)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FB17AA-77FA-4699-AAA4-AEAEED9A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4199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60E62E-3FF7-45EF-867E-170B428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DA46EB-3C81-4612-BCA7-5D2F849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3C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C494FC-B2A8-4AD3-AC13-9838A19E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81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F37A2A-DD2F-45E7-900A-D5D183A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87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4B281D-3005-4E21-BC9B-9CD75FB2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78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B7E218-66EA-42D2-B94E-770CEEB8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67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8BA67C-1A2D-4266-BDC5-2D4DE9FC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68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FF28AF-CD12-4058-97E3-567C3D9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62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E915FB-0E25-4EA4-ADF6-29066E1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61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7A0655-8AA3-436C-8EF7-943D9E24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57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5AF77F-BE96-4419-A409-E8321063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43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EE6A23-017B-401B-9309-EA624DD7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740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7CB7A3-2763-416D-8A8A-86C51A5B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48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B2375A-1C93-4626-BB4D-530E641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42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75CA60-7775-42B2-B3C6-7299AA25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23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8CB1A1-67CA-4706-9863-98C79F8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09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KGML: constraints restore the 1:1 relationship</a:t>
            </a:r>
          </a:p>
        </p:txBody>
      </p:sp>
    </p:spTree>
    <p:extLst>
      <p:ext uri="{BB962C8B-B14F-4D97-AF65-F5344CB8AC3E}">
        <p14:creationId xmlns:p14="http://schemas.microsoft.com/office/powerpoint/2010/main" val="736295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2026-09-04T14:29:21.4780000Z</dcterms:created>
  <dcterms:modified xsi:type="dcterms:W3CDTF">2026-09-04T14:29:21.4780000Z</dcterms:modified>
</coreProperties>
</file>