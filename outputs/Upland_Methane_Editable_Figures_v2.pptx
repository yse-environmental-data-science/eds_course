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f885801bb641d3" /><Relationship Type="http://schemas.openxmlformats.org/officeDocument/2006/relationships/extended-properties" Target="/docProps/app.xml" Id="R41c7ffc02f114fe1" /><Relationship Type="http://schemas.openxmlformats.org/officeDocument/2006/relationships/officeDocument" Target="/ppt/presentation.xml" Id="Rfedd75a727164e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9581a12ac54276"/>
  </p:sldMasterIdLst>
  <p:notesMasterIdLst>
    <p:notesMasterId xmlns:r="http://schemas.openxmlformats.org/officeDocument/2006/relationships" r:id="Re04694868be449ff"/>
  </p:notesMasterIdLst>
  <p:sldIdLst>
    <p:sldId xmlns:r="http://schemas.openxmlformats.org/officeDocument/2006/relationships" id="256" r:id="R227027a968db4716"/>
    <p:sldId xmlns:r="http://schemas.openxmlformats.org/officeDocument/2006/relationships" id="257" r:id="Rcc141ca3aa0f4458"/>
    <p:sldId xmlns:r="http://schemas.openxmlformats.org/officeDocument/2006/relationships" id="258" r:id="Rff9b4dc5c981423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aa2b80447044bf" /><Relationship Type="http://schemas.openxmlformats.org/officeDocument/2006/relationships/slideMaster" Target="/ppt/slideMasters/slideMaster1.xml" Id="Re39581a12ac54276" /><Relationship Type="http://schemas.openxmlformats.org/officeDocument/2006/relationships/notesMaster" Target="/ppt/notesMasters/notesMaster1.xml" Id="Re04694868be449ff" /><Relationship Type="http://schemas.openxmlformats.org/officeDocument/2006/relationships/presProps" Target="/ppt/presProps.xml" Id="R179d25e36b284e12" /><Relationship Type="http://schemas.openxmlformats.org/officeDocument/2006/relationships/tableStyles" Target="/ppt/tableStyles.xml" Id="R340e6b871e554e1b" /><Relationship Type="http://schemas.openxmlformats.org/officeDocument/2006/relationships/slide" Target="/ppt/slides/slide1.xml" Id="R227027a968db4716" /><Relationship Type="http://schemas.openxmlformats.org/officeDocument/2006/relationships/slide" Target="/ppt/slides/slide2.xml" Id="Rcc141ca3aa0f4458" /><Relationship Type="http://schemas.openxmlformats.org/officeDocument/2006/relationships/slide" Target="/ppt/slides/slide3.xml" Id="Rff9b4dc5c98142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7a376fc97042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df4cb8fbc24182" /><Relationship Type="http://schemas.openxmlformats.org/officeDocument/2006/relationships/notesMaster" Target="/ppt/notesMasters/notesMaster1.xml" Id="R4cc3eb920a9c4c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68caada6be46c3" /><Relationship Type="http://schemas.openxmlformats.org/officeDocument/2006/relationships/notesMaster" Target="/ppt/notesMasters/notesMaster1.xml" Id="R5b6c78f7069d46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2b6ad0583a48b4" /><Relationship Type="http://schemas.openxmlformats.org/officeDocument/2006/relationships/notesMaster" Target="/ppt/notesMasters/notesMaster1.xml" Id="R893157f94fd840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547c07ff5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6f8d01b6ff4017" /><Relationship Type="http://schemas.openxmlformats.org/officeDocument/2006/relationships/slideLayout" Target="/ppt/slideLayouts/slideLayout1.xml" Id="R0cf022550fbf4b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f022550fbf4b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41d5686fb488b" /><Relationship Type="http://schemas.openxmlformats.org/officeDocument/2006/relationships/notesSlide" Target="/ppt/notesSlides/notesSlide1.xml" Id="Rc172a5cd352446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e736c2c1d48d1" /><Relationship Type="http://schemas.openxmlformats.org/officeDocument/2006/relationships/notesSlide" Target="/ppt/notesSlides/notesSlide2.xml" Id="R246a9c55c4de4b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b59b9577249e4" /><Relationship Type="http://schemas.openxmlformats.org/officeDocument/2006/relationships/notesSlide" Target="/ppt/notesSlides/notesSlide3.xml" Id="R33cce364e7db4a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AC25C0-00A9-4647-B51E-06B903A8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 scale-inference error in the global methane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68CAA-5A5C-4AD8-8674-ABDB63B0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The chamber-measured soil sink is treated as the whole upland budget, but they are different quantities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A19E7-70AE-447E-A6A8-3BEA2067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6381750" cy="5953125"/>
          </a:xfrm>
          <a:prstGeom xmlns:a="http://schemas.openxmlformats.org/drawingml/2006/main" prst="roundRect">
            <a:avLst>
              <a:gd name="adj" fmla="val 288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5F379-3F8B-4CD0-8DCF-71966FBE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6334125" cy="5953125"/>
          </a:xfrm>
          <a:prstGeom xmlns:a="http://schemas.openxmlformats.org/drawingml/2006/main" prst="roundRect">
            <a:avLst>
              <a:gd name="adj" fmla="val 288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2EA6A-1C4E-4C73-8E95-A4718F7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71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CHAMBER — measurement 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38B9F-278D-417E-B5AD-40848D8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716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ECOSYSTEM — inference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F6A63-315F-4E1D-84A9-C5F59FA8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62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sees only the soil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3316A-5BDB-4649-B700-0995878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23825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3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1BFD4-2752-4EA7-A540-F0297DB8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chamber</a:t>
            </a:r>
          </a:p>
          <a:p xmlns:a="http://schemas.openxmlformats.org/drawingml/2006/main">
            <a:pPr algn="ctr">
              <a:def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collar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BAB26-D6CD-4602-A035-32135256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5848350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7D8BC"/>
          </a:solidFill>
          <a:ln xmlns:a="http://schemas.openxmlformats.org/drawingml/2006/main" w="19050">
            <a:solidFill>
              <a:srgbClr val="C9B18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92C6A-707C-481D-B26D-131298E7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339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A7A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7A60"/>
                </a:solidFill>
                <a:latin typeface="Helvetica Neue"/>
                <a:ea typeface="Helvetica Neue"/>
                <a:cs typeface="Helvetica Neue"/>
              </a:rPr>
              <a:t>aerated soil · methanotrophy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B4E61-6EED-46A2-A5C9-6CB9A4A9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91125"/>
            <a:ext cx="361950" cy="952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D65B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22C79-B07A-4F01-A996-D3FEBE83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435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CH₄ uptake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EF593-3D80-4B0B-9A0D-D4B71355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191250"/>
            <a:ext cx="53340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9DC80-774E-4BE0-912F-F235009F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3150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Assumed soil sink: −11 to −49 Tg CH₄ yr⁻¹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A072E-F0E5-417A-B8C0-D969CD1E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52825"/>
            <a:ext cx="71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10008-CF0C-4C6B-8E7B-9D93F14C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0"/>
            <a:ext cx="5810250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7D8BC"/>
          </a:solidFill>
          <a:ln xmlns:a="http://schemas.openxmlformats.org/drawingml/2006/main" w="19050">
            <a:solidFill>
              <a:srgbClr val="C9B1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029BF-328F-4B18-B4A7-2E2E6FA7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619125" cy="2809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E8ECF-215C-42DF-9E8C-D6273E70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050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AD2AD-4A72-453F-902E-A68C4660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768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4850-0F0F-4C32-AFC6-A51BAE0D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66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stems · canopy · microsites · transport · lateral 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F8FF2-C1DD-4878-A799-E4E4A4E6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38550"/>
            <a:ext cx="114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A1039-34C6-4266-9FF3-2C34BC7B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952750"/>
            <a:ext cx="7429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9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DDB48-8C93-4727-B92E-D6C40ED4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47900"/>
            <a:ext cx="304800" cy="819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4EF782-7E3A-469C-B47A-F9A7CEEB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638550"/>
            <a:ext cx="114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A4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17826-AC99-49BC-A16B-E4FDA0F0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952750"/>
            <a:ext cx="7429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9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5093A0-CC15-48F5-B0C2-0279D4F8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304800" cy="819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43EAE9-6E23-4487-8CEE-2B32FA92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429125"/>
            <a:ext cx="323850" cy="838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D65B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E67E7-A036-46E2-AF11-9C47ED9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551497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soil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629D6A-A263-43AA-BA5B-2D3D39F8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095875"/>
            <a:ext cx="8572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B4C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6FD0A-DF1F-43DF-9ECC-41D2EA7C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191000"/>
            <a:ext cx="304800" cy="7810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5EE768-A084-448D-95AC-092F67E6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5514975"/>
            <a:ext cx="87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wet spot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C24A8D-3204-40D4-A87D-EC541D70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51460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A4B2AA-63F1-4DE3-A90D-18CA2FF4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2669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tower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99D95D-26AE-41BD-A678-1A4201E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72415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EAB13D-42E6-47A7-B873-CE30DBC2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171825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0A29E0-04BC-4443-B71E-4F75944D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61950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337A59-681C-442B-86D2-5B2B817F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067175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D4518B-B9F8-4556-9513-FA77172C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51485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032348-2629-4991-81F2-4D1C3B2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52863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EEE505-C669-44BD-AE26-45404020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1507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Ecosystem-scale: +22 to +75 Tg CH₄ yr⁻¹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0F535B-FD60-4707-B09C-E604174A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58100"/>
            <a:ext cx="14097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4FA0B9-8FE6-4CC1-9AC0-FCDFF75B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781925"/>
            <a:ext cx="1343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83% of NEON upland sites (2021–2024) are net CH₄ sources — the soil sink is not the upland budget</a:t>
            </a:r>
          </a:p>
        </p:txBody>
      </p:sp>
    </p:spTree>
    <p:extLst>
      <p:ext uri="{BB962C8B-B14F-4D97-AF65-F5344CB8AC3E}">
        <p14:creationId xmlns:p14="http://schemas.microsoft.com/office/powerpoint/2010/main" val="1949454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CF6512-4C20-4CAE-93BA-5BF2BD35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3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The Upland Methane Constraint: from existing observatory data to a budget-ready AI-ready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B6224-DA2E-4241-B74A-243AD52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No new field stations — value created by pipelining, harmonizing, and physically constraining data that already exist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7A59E-8374-4E81-AD55-59FCE897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2571750" cy="45720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C7DCC-80CD-4FC1-AC5C-166FCE90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EXISTING COMMUNITY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78185-D072-4ED2-9D1A-02CF67F7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0507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C079A-933A-4143-BFA3-1601AEC4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03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NEON gradient 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4037E-638F-4334-A148-588262C7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47 towers · vertical CH₄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230B3-1B92-4FA4-BC3C-C80D88B5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3852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FF942-E6D4-4AB6-81B4-F4D13A15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337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AmeriFlux / FLUXNET-CH₄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07E21-892F-440A-AE59-709B0BDB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EC CH₄ fluxes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A3883-AC82-407E-8368-FFB89E91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7197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513CE-6A35-4856-8906-1FB8959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7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ICOS + validation towers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94060-E0A7-4F17-979E-B96FA3B6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720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EC + gradient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4723C-EFB0-4C33-89E3-A378F47F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0542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738A3-F03D-40EA-AB8F-65C2C700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006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Drivers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E41CC-E734-496B-8392-6C9E4FE2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0547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ERA5 · MODIS · WAD2M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B719E-F5A7-4F2F-A758-68E688D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open-licensed · not AI-ready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799CB-92E0-4C03-830F-E8B2F179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0D791-0834-4778-9455-2AFD2B08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C3E1E-3349-4465-A5E3-F53063D6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10ABF-CCBB-4C23-A36F-0A9B3F32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5F55C-5370-4000-87A5-43E5819A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Automated GF pipeline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3D850-69B0-477D-A00B-9549E1DE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Reproducible, self-updating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NEON gradient fluxes with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17FFE-AAAA-4B77-8AF5-82D523A7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AED8F-016B-4F83-AFB3-7C6902A8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31239F-E535-4428-952E-A60CABBE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NEON-GF-CH₄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93EFA-5D0C-4296-8BE3-604EE3EE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7EDD8E-BA61-4CAB-863D-E7B721FC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D2DEA-C610-4B6A-95F4-C13BBB9F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9E746-0BAD-4900-A00E-520E7F02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7DCECE-10DF-4BF4-8755-02919A75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Harmonized corpus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62ED8A-6778-491A-8474-21B49650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Multi-network,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cross-method, feature-rich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training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F7C8D2-9769-4642-89AE-EDD74E42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EB7C42-2B02-4206-BECB-EFD2AF8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09FE38-CFC1-423F-B43C-95164413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UMC-Train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D6114-85BE-4D7F-9471-557D0A8F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2F429E-05EE-43E1-8D64-C26FD55A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C7DD1C-2013-41AD-930E-EC79A04C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AA0712-7F58-49FE-B826-BB9A89B8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45CE55-827E-4E85-A53F-606473C5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Knowledge-guided ML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F0A7E9-A115-4C4C-BC7B-E87DE62C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Physics-constrained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upscaling that transfers to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unseen sites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A504A1-6409-4B03-AFDD-025CE165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8A8AE0-8E88-4144-AD20-4A6F62AB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AE4DC8-A6C0-48F0-AB56-39F498C2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UMC-Grid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54878D-4746-4C29-A390-FC1F984B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F1A015-15DD-4268-B55E-E19785A5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006901-0231-43A9-9725-4A913850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EF42CE-8443-48C7-8156-328532A5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6B111C-7569-44C7-A24C-2950AEDB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Inversion &amp; reconciliation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E6AC31-A3D7-4C93-BBDD-16C06A4A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Top-down, bottom-up &amp;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process-model constraint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0130BA-A352-4E02-BB48-55914B60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4BD663-99F7-4C4F-A0CF-FE367FE1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D2F959-6BD0-46CC-A2F5-E1EE03EA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UMC-Constraint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89A0C4-59B0-4D81-95FB-C31B5C13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43021C-5052-4EAA-95D4-1C416DEE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E83853-02C2-4A15-AC30-9941992C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CF0F31-EE34-4865-9A93-C939D625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CB104F-CEF8-45B9-91EA-9CB2A531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3922A3-B54F-4D0D-AA99-F705285E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24075"/>
            <a:ext cx="1143000" cy="32194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ABF793-53B0-45F1-B32A-780B1BE8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619375"/>
            <a:ext cx="95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GLOBAL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CARBON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799009-B4DD-4409-A406-DA4F661B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8766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Global Methane</a:t>
            </a:r>
          </a:p>
          <a:p xmlns:a="http://schemas.openxmlformats.org/drawingml/2006/main">
            <a:pPr algn="ctr">
              <a:def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A88664-A4E2-4F7F-84BE-14B2DD13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6386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B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BD0"/>
                </a:solidFill>
                <a:latin typeface="Helvetica Neue"/>
                <a:ea typeface="Helvetica Neue"/>
                <a:cs typeface="Helvetica Neue"/>
              </a:rPr>
              <a:t>IPCC · inventories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2D8EC4-B0B0-4019-B1EF-678B1BE1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62625"/>
            <a:ext cx="1042987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B04179-A32F-485F-ADFC-0AC77C16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905500"/>
            <a:ext cx="9972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Governed, versioned, FAIR open release · DOIs &amp; provenance · continuously updated as networks grow</a:t>
            </a:r>
          </a:p>
        </p:txBody>
      </p:sp>
    </p:spTree>
    <p:extLst>
      <p:ext uri="{BB962C8B-B14F-4D97-AF65-F5344CB8AC3E}">
        <p14:creationId xmlns:p14="http://schemas.microsoft.com/office/powerpoint/2010/main" val="2042449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E792B8-CC60-4A0F-AC11-7974DF20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Knowledge-guided machine learning restores site-to-site transferability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44821-689B-4061-AD85-5DEAFAF5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Embedding methane process physics into learning fixes the leave-one-site-out collapse of standard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7EF14-899D-4D05-9871-DD515229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2190750" cy="39052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41F18-31A9-4C9E-929C-20039A43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19328-AE15-4786-8F64-44D5BF68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0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Harmonized</a:t>
            </a:r>
          </a:p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AI-ready features</a:t>
            </a:r>
          </a:p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(UMC-Train)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A6886-DEAF-43C5-87B1-608B086A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climate · soil moisture</a:t>
            </a:r>
          </a:p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aridity · land cover</a:t>
            </a:r>
          </a:p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site priors · footprint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ACFB7-FBAA-4CA7-A4C9-3575EC2A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4953000" cy="16192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7EE"/>
          </a:solidFill>
          <a:ln xmlns:a="http://schemas.openxmlformats.org/drawingml/2006/main" w="19050">
            <a:solidFill>
              <a:srgbClr val="DF8A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DB1D1-95A1-4217-B887-BEFDBBE9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811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6D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86D0C"/>
                </a:solidFill>
                <a:latin typeface="Helvetica Neue"/>
                <a:ea typeface="Helvetica Neue"/>
                <a:cs typeface="Helvetica Neue"/>
              </a:rPr>
              <a:t>PROCESS CONSTRAINTS (knowledge)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C6039-BE12-4FE3-BCB0-291B8FB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02618-AA10-4032-B183-F3AF3172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574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Diffusion-limited uptake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00068-70C7-4F95-8831-33A4E572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17659-8F66-4E60-83B7-A997C09B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Moisture &amp; aridity thresholds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CCE57-B64E-46FE-8658-9B3C39FF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EDAC7-7BD7-4B4C-A135-07DD67DA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574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Methanotroph / methanogen Q₁₀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8D4FD-8126-4232-93CB-F43975FB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200A3-3AD8-4F76-86DE-0D35E390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860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Sign, monotonicity &amp; mass balance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FA6C6-0638-40CC-B80A-C986592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2238375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F9A45-94FA-4B96-951C-0D78DA5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19550"/>
            <a:ext cx="1800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Reduced process</a:t>
            </a:r>
          </a:p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emulator</a:t>
            </a:r>
          </a:p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(MeMo-informed)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E2B19-B542-45D2-8740-6A7B67C9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238375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B59A-335C-4115-A9B2-E68A6C85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19550"/>
            <a:ext cx="1800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2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ML residual</a:t>
            </a:r>
          </a:p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network</a:t>
            </a:r>
          </a:p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learns the correction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DAFBA-543D-45FD-9F61-567744EF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67125"/>
            <a:ext cx="409575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A596F-138A-46D3-883A-1960A325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14800"/>
            <a:ext cx="3619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DB285-2A22-4393-9093-8B13356D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1002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99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EBE2D8-8E24-4902-9EA4-D2B685D6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99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6EDBD-59D8-4D91-BBE1-9949AB5C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99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0290B-2C64-40F9-915E-CEEAD5A8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19575" y="5048250"/>
            <a:ext cx="323850" cy="552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105CA3-D253-4F41-83D5-3C78ED25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086600" y="5048250"/>
            <a:ext cx="323850" cy="552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D8618-87DD-4D01-8962-9DF423D7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95950"/>
            <a:ext cx="5095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67C2F-C310-4189-9C39-64B8D6CF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48350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0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Constrained prediction = physics baseline + bounded ML residual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5D877-3659-4685-9ABA-CA4C6209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95975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C4A31B-F9C1-4D5F-9378-DC85F4F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6400800" cy="46482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325785-6B24-47BD-97F6-CEB2679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95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FC0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FC0D7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9A7A07-BF53-49A7-BBA7-E3BCFC42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4795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Global gridded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upland CH₄ flux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(UMC-Grid)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83ADBE-1AAA-458A-8CA3-6107E5FA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481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per-cell uncertainty</a:t>
            </a:r>
          </a:p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source probability</a:t>
            </a:r>
          </a:p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applicability mask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6FD3BF-C9CC-4FD5-B04F-54A6AE59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762750"/>
            <a:ext cx="1452562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2F13AC-72CC-44FB-A674-87395E08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915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Why it matters: recovering skill at unseen sites (leave-one-site-out)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EB3D56-19AB-47BE-91D7-6F90916A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53300"/>
            <a:ext cx="2667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D42343-A574-457B-A368-9D9C0F41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8750" y="7429500"/>
            <a:ext cx="242887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A3C1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EC95C9-0F1C-4678-82D0-D7D7482D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77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5A5B4F-C73B-434F-BF77-8A314EFB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58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F84E80-605D-48D2-8A75-A0D023A7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759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A6BAA1-6421-4AD9-B6FF-EFF4C8CF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75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D148B0-E519-433B-8AA9-AA8D431F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70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4A1F1E-9887-45FE-80D8-CFD105C5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71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198CE0-D02E-409F-9E70-E2070727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648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8FB617-C30C-4168-AA41-C6C00605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69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EB4E01-6977-4C17-9A89-2C175AF8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771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A039BF-A871-4A2E-A26E-0395094F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59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2BD2E0-1394-4191-B356-DFCE4984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766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F6FB4B-1E98-4DE1-8035-864DB4E0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66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1D95E7-08A7-4D56-8E9C-5BBD40E1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2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Standard RF: CCC &lt; 0.1 (flat — predicts the mean)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4D80A5-F21D-4B35-AD77-62DEA4E9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4199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6433C7-29F6-4BC1-8323-765B4513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53300"/>
            <a:ext cx="2667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5F6F48-2D6B-4A14-9B22-8EECEFA1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96750" y="7429500"/>
            <a:ext cx="242887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A3C1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E51A8A-8974-4A64-8DC8-DE8D870D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781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4F2812-F7A0-4865-98BF-69D3FB5B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877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00637EE-BFA8-487B-979C-720DE388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781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D1049B-254D-431B-BB80-A46F124C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767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A386BE-AB83-4713-860A-33D51D03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768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C5779C-318A-4962-8D20-EB840CBA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762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0D8CD4-75B1-4C8E-B767-DF806027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761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E983C9-9973-4FF9-8C02-0AE33763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757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B0D7F6-BDE0-41A1-9323-1FD48296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43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49F4E6-AC53-4D82-8CE9-4932252C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7400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73B865-BD9F-4E84-9208-A231755C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748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237C4C-0538-4136-8B05-36D97978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742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3557CC-0398-4CE4-A78E-E18F72AF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23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984BCB5-62FD-4B07-9367-7F538851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80200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KGML: constraints restore the 1:1 relationship</a:t>
            </a:r>
          </a:p>
        </p:txBody>
      </p:sp>
    </p:spTree>
    <p:extLst>
      <p:ext uri="{BB962C8B-B14F-4D97-AF65-F5344CB8AC3E}">
        <p14:creationId xmlns:p14="http://schemas.microsoft.com/office/powerpoint/2010/main" val="404148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2026-09-04T14:30:40.8860000Z</dcterms:created>
  <dcterms:modified xsi:type="dcterms:W3CDTF">2026-09-04T14:30:40.8860000Z</dcterms:modified>
</coreProperties>
</file>